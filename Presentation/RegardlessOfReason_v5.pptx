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주환 박" initials="주박" lastIdx="1" clrIdx="0">
    <p:extLst>
      <p:ext uri="{19B8F6BF-5375-455C-9EA6-DF929625EA0E}">
        <p15:presenceInfo xmlns:p15="http://schemas.microsoft.com/office/powerpoint/2012/main" userId="9f93032a34131f5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1" d="100"/>
          <a:sy n="71" d="100"/>
        </p:scale>
        <p:origin x="85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r>
              <a:rPr lang="ko-KR" altLang="en-US" sz="1800" b="1" i="0">
                <a:solidFill>
                  <a:srgbClr val="F7F2E7"/>
                </a:solidFill>
                <a:latin typeface="맑은 고딕"/>
                <a:ea typeface="맑은 고딕"/>
                <a:cs typeface="맑은 고딕"/>
              </a:rPr>
              <a:t>웨이브별 획득 크리스탈</a:t>
            </a:r>
          </a:p>
        </c:rich>
      </c:tx>
      <c:overlay val="0"/>
    </c:title>
    <c:autoTitleDeleted val="0"/>
    <c:plotArea>
      <c:layout/>
      <c:barChart>
        <c:barDir val="col"/>
        <c:grouping val="clustered"/>
        <c:varyColors val="0"/>
        <c:ser>
          <c:idx val="0"/>
          <c:order val="0"/>
          <c:tx>
            <c:strRef>
              <c:f>Sheet1!$B$1</c:f>
              <c:strCache>
                <c:ptCount val="1"/>
                <c:pt idx="0">
                  <c:v>획득 크리스탈</c:v>
                </c:pt>
              </c:strCache>
            </c:strRef>
          </c:tx>
          <c:spPr>
            <a:solidFill>
              <a:srgbClr val="D8C9A6"/>
            </a:solidFill>
          </c:spPr>
          <c:invertIfNegative val="1"/>
          <c:dPt>
            <c:idx val="9"/>
            <c:invertIfNegative val="1"/>
            <c:bubble3D val="0"/>
            <c:spPr>
              <a:solidFill>
                <a:srgbClr val="E5483C"/>
              </a:solidFill>
            </c:spPr>
            <c:extLst>
              <c:ext xmlns:c16="http://schemas.microsoft.com/office/drawing/2014/chart" uri="{C3380CC4-5D6E-409C-BE32-E72D297353CC}">
                <c16:uniqueId val="{00000001-8F29-4599-BDC1-0175F4C3CDB3}"/>
              </c:ext>
            </c:extLst>
          </c:dPt>
          <c:dLbls>
            <c:numFmt formatCode="#,##0" sourceLinked="0"/>
            <c:spPr>
              <a:noFill/>
              <a:ln>
                <a:noFill/>
              </a:ln>
              <a:effectLst/>
            </c:spPr>
            <c:txPr>
              <a:bodyPr/>
              <a:lstStyle/>
              <a:p>
                <a:pPr>
                  <a:defRPr sz="1200">
                    <a:solidFill>
                      <a:srgbClr val="EFE6D2"/>
                    </a:solidFill>
                    <a:latin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1600</c:v>
                </c:pt>
                <c:pt idx="1">
                  <c:v>2400</c:v>
                </c:pt>
                <c:pt idx="2">
                  <c:v>3200</c:v>
                </c:pt>
                <c:pt idx="3">
                  <c:v>3600</c:v>
                </c:pt>
                <c:pt idx="4">
                  <c:v>4200</c:v>
                </c:pt>
                <c:pt idx="5">
                  <c:v>5000</c:v>
                </c:pt>
                <c:pt idx="6">
                  <c:v>5800</c:v>
                </c:pt>
                <c:pt idx="7">
                  <c:v>7400</c:v>
                </c:pt>
                <c:pt idx="8">
                  <c:v>8400</c:v>
                </c:pt>
                <c:pt idx="9">
                  <c:v>10400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F29-4599-BDC1-0175F4C3CDB3}"/>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title>
          <c:tx>
            <c:rich>
              <a:bodyPr/>
              <a:lstStyle/>
              <a:p>
                <a:r>
                  <a:rPr lang="ko-KR" altLang="en-US" sz="1300" b="0" i="0">
                    <a:solidFill>
                      <a:srgbClr val="B4AE9F"/>
                    </a:solidFill>
                    <a:latin typeface="맑은 고딕"/>
                    <a:ea typeface="맑은 고딕"/>
                    <a:cs typeface="맑은 고딕"/>
                  </a:rPr>
                  <a:t>웨이브 번호</a:t>
                </a:r>
              </a:p>
            </c:rich>
          </c:tx>
          <c:overlay val="0"/>
        </c:title>
        <c:numFmt formatCode="General" sourceLinked="0"/>
        <c:majorTickMark val="out"/>
        <c:minorTickMark val="none"/>
        <c:tickLblPos val="nextTo"/>
        <c:spPr>
          <a:ln>
            <a:solidFill>
              <a:srgbClr val="B4AE9F"/>
            </a:solidFill>
          </a:ln>
        </c:spPr>
        <c:txPr>
          <a:bodyPr/>
          <a:lstStyle/>
          <a:p>
            <a:pPr>
              <a:defRPr sz="1300">
                <a:solidFill>
                  <a:srgbClr val="EFE6D2"/>
                </a:solidFill>
              </a:defRPr>
            </a:pPr>
            <a:endParaRPr lang="ko-KR"/>
          </a:p>
        </c:txPr>
        <c:crossAx val="-2113994440"/>
        <c:crosses val="autoZero"/>
        <c:auto val="1"/>
        <c:lblAlgn val="ctr"/>
        <c:lblOffset val="100"/>
        <c:noMultiLvlLbl val="0"/>
      </c:catAx>
      <c:valAx>
        <c:axId val="-2113994440"/>
        <c:scaling>
          <c:orientation val="minMax"/>
          <c:max val="120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EFE6D2"/>
          </a:solidFill>
          <a:latin typeface="맑은 고딕"/>
        </a:defRPr>
      </a:pPr>
      <a:endParaRPr lang="ko-KR"/>
    </a:p>
  </c:txPr>
  <c:externalData r:id="rId1">
    <c:autoUpdate val="0"/>
  </c:externalData>
</c:chartSpace>
</file>

<file path=ppt/comments/comment1.xml><?xml version="1.0" encoding="utf-8"?>
<p:cmLst xmlns:a="http://schemas.openxmlformats.org/drawingml/2006/main" xmlns:r="http://schemas.openxmlformats.org/officeDocument/2006/relationships" xmlns:p="http://schemas.openxmlformats.org/presentationml/2006/main">
  <p:cm authorId="1" dt="2026-10-27T05:25:58.344" idx="1">
    <p:pos x="7331" y="719"/>
    <p:text/>
    <p:extLst>
      <p:ext uri="{C676402C-5697-4E1C-873F-D02D1690AC5C}">
        <p15:threadingInfo xmlns:p15="http://schemas.microsoft.com/office/powerpoint/2012/main" timeZoneBias="-5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90939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[10초] 안녕하세요. 지금부터 제가 만든 게임 'Regardless of Reason', 한국어로 '사유 불문'을 소개하겠습니다. 먼저 58초짜리 시연 영상부터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[58초 · 영상 재생] 영상을 이 슬라이드에 삽입한 뒤 점선 안내 상자는 삭제합니다. 발표 PC에서 재생과 소리를 미리 확인합니다. 영상이 끝나면 다음 장으로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[30초] 배경은 크리스탈 좀비 행성입니다. 채굴 인력이 전멸하자 회사는 지원자를 모집합니다. 지원 동기는 적게 하지만, 그 이유가 무엇이든 중요하지 않다는 태도입니다. 제목 '사유 불문'이 바로 이 뜻입니다. 난이도와 지원 동기를 서류에 체크하고 도장을 찍는 UI로 이 분위기를 표현했고, 동기는 게임 진행에 영향을 주지 않으며 엔딩 텍스트만 달라집니다.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[35초] 한 판은 28일입니다. 기지에서 미션을 확인하고 웨이브를 고른 뒤 전투로 나갑니다. 경고가 뜨면 방어벽 뒤로 물러나 방어하고, 돌아오면 하루가 지납니다. 날짜는 전투를 마치고 복귀할 때만 흐르기 때문에 28일을 버티려면 웨이브를 28번 깨야 합니다. 미션은 7일마다 마감이고, 마감을 넘기면 즉시 게임오버입니다. 28일을 채우면 29일 아침 로켓으로 지구에 귀환합니다.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[40초] 크리스탈이 모든 것의 기준입니다. 웨이브는 열 개이고, 뒤로 갈수록 얻는 크리스탈이 늘도록 설계했습니다. 미션 상납액은 1주차 5천, 2주차 8천, 3주차 1만 2천, 4주차 2만 2천으로, 후반을 가파르게 잡아 긴장을 유지합니다. 웨이브는 주차별 상한 안에서 이전 웨이브를 깨야 열려서, 첫날 가장 쉬운 보상 구간을 건너뛰고 경제가 무너지는 것을 막았습니다. 방어벽은 세 등급이고, 웨이브마다 필요한 등급이 달라지도록 맞췄습니다.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[45초] 기술적으로 신경 쓴 부분 여섯 가지입니다. 투사체와 좀비는 오브젝트 풀링으로 재사용하고, 타이머와 충돌이 겹쳐 두 번 반납되는 문제는 플래그로 막았습니다. 좀비 AI는 NavMesh 없이 Transform으로 플레이어를 향해 직진하고, 방어벽은 SphereCast로 감지하며, 공격 피해는 애니메이션 이벤트 시점에 들어갑니다. 웨이브, 무기, 사운드, 튜토리얼 문구는 모두 ScriptableObject 데이터라 코드를 건드리지 않고 조정합니다. 세이브는 JSON 세 칸이고 에디터와 빌드의 저장 경로를 분리했습니다. 오디오는 AudioManager와 믹서 세 버스로 구성했고, 씬은 네 개에 DontDestroyOnLoad 매니저를 둡니다.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[20초] 8월 말 필수 11단계로 시작해, 9월 말에 28일 런과 MVP 범위를 확정했습니다. 10월 중순에 웨이브 열 개와 엔딩, 튜토리얼로 MVP를 마무리했고, 그 뒤로는 로우폴리 모델, 이펙트, UI, 사운드 폴리싱을 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[20초] 아직 부족한 점도 분명합니다. 좀비는 두 종류이고 보스가 없으며, 맵 확장을 미뤄서 웨이브 8에서 10은 다시 보정해야 합니다. 앞으로는 베타 테스트 피드백으로 밸런스를 다듬고, 좀비를 시원하게 처치하고 파밍하며 익스트랙션 요소를 더한 슈터로 전환할지 검토할 계획입니다. 웨이브 관련 코드만 바꾸면 되어 60에서 70퍼센트는 재사용할 수 있다고 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[10초] 정리하면, 28일을 버티는 웨이브 디펜스를 열 개의 웨이브와 세이브, 오디오, 상점 같은 시스템으로 완성했습니다. 들어주셔서 감사합니다. 질문 받겠습니다.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En"/>
          <p:cNvSpPr txBox="1"/>
          <p:nvPr/>
        </p:nvSpPr>
        <p:spPr>
          <a:xfrm>
            <a:off x="731520" y="1737360"/>
            <a:ext cx="6583680" cy="1737360"/>
          </a:xfrm>
          <a:prstGeom prst="rect">
            <a:avLst/>
          </a:prstGeom>
          <a:noFill/>
        </p:spPr>
        <p:txBody>
          <a:bodyPr wrap="square" lIns="0" tIns="0" rIns="0" bIns="0" anchor="t">
            <a:spAutoFit/>
          </a:bodyPr>
          <a:lstStyle/>
          <a:p>
            <a:pPr algn="l" eaLnBrk="0">
              <a:lnSpc>
                <a:spcPct val="95000"/>
              </a:lnSpc>
              <a:spcAft>
                <a:spcPts val="0"/>
              </a:spcAft>
            </a:pPr>
            <a:r>
              <a:rPr sz="6400" b="1" i="0">
                <a:solidFill>
                  <a:srgbClr val="F7F2E7"/>
                </a:solidFill>
                <a:latin typeface="맑은 고딕"/>
                <a:ea typeface="맑은 고딕"/>
                <a:cs typeface="맑은 고딕"/>
              </a:rPr>
              <a:t>Regardless</a:t>
            </a:r>
          </a:p>
          <a:p>
            <a:pPr algn="l" eaLnBrk="0">
              <a:lnSpc>
                <a:spcPct val="95000"/>
              </a:lnSpc>
              <a:spcAft>
                <a:spcPts val="0"/>
              </a:spcAft>
            </a:pPr>
            <a:r>
              <a:rPr sz="6400" b="1" i="0">
                <a:solidFill>
                  <a:srgbClr val="F7F2E7"/>
                </a:solidFill>
                <a:latin typeface="맑은 고딕"/>
                <a:ea typeface="맑은 고딕"/>
                <a:cs typeface="맑은 고딕"/>
              </a:rPr>
              <a:t>of Reason</a:t>
            </a:r>
          </a:p>
        </p:txBody>
      </p:sp>
      <p:sp>
        <p:nvSpPr>
          <p:cNvPr id="3" name="TitleKo"/>
          <p:cNvSpPr txBox="1"/>
          <p:nvPr/>
        </p:nvSpPr>
        <p:spPr>
          <a:xfrm>
            <a:off x="731520" y="3611880"/>
            <a:ext cx="6400800" cy="914400"/>
          </a:xfrm>
          <a:prstGeom prst="rect">
            <a:avLst/>
          </a:prstGeom>
          <a:noFill/>
        </p:spPr>
        <p:txBody>
          <a:bodyPr wrap="square" lIns="0" tIns="0" rIns="0" bIns="0" anchor="t">
            <a:spAutoFit/>
          </a:bodyPr>
          <a:lstStyle/>
          <a:p>
            <a:pPr algn="l" eaLnBrk="0">
              <a:spcAft>
                <a:spcPts val="0"/>
              </a:spcAft>
            </a:pPr>
            <a:r>
              <a:rPr sz="4800" b="1" i="0">
                <a:solidFill>
                  <a:srgbClr val="E5483C"/>
                </a:solidFill>
                <a:latin typeface="맑은 고딕"/>
                <a:ea typeface="맑은 고딕"/>
                <a:cs typeface="맑은 고딕"/>
              </a:rPr>
              <a:t>사유 불문</a:t>
            </a:r>
          </a:p>
        </p:txBody>
      </p:sp>
      <p:sp>
        <p:nvSpPr>
          <p:cNvPr id="4" name="Subtitle"/>
          <p:cNvSpPr txBox="1"/>
          <p:nvPr/>
        </p:nvSpPr>
        <p:spPr>
          <a:xfrm>
            <a:off x="731520" y="4800600"/>
            <a:ext cx="6400800" cy="822960"/>
          </a:xfrm>
          <a:prstGeom prst="rect">
            <a:avLst/>
          </a:prstGeom>
          <a:noFill/>
        </p:spPr>
        <p:txBody>
          <a:bodyPr wrap="square" lIns="0" tIns="0" rIns="0" bIns="0" anchor="t">
            <a:spAutoFit/>
          </a:bodyPr>
          <a:lstStyle/>
          <a:p>
            <a:pPr algn="l" eaLnBrk="0">
              <a:spcAft>
                <a:spcPts val="0"/>
              </a:spcAft>
            </a:pPr>
            <a:r>
              <a:rPr sz="2000" b="0" i="0">
                <a:solidFill>
                  <a:srgbClr val="B4AE9F"/>
                </a:solidFill>
                <a:latin typeface="맑은 고딕"/>
                <a:ea typeface="맑은 고딕"/>
                <a:cs typeface="맑은 고딕"/>
              </a:rPr>
              <a:t>탑다운 웨이브 디펜스 · 28일 · Unity 6</a:t>
            </a:r>
          </a:p>
        </p:txBody>
      </p:sp>
      <p:sp>
        <p:nvSpPr>
          <p:cNvPr id="5" name="ContractCard"/>
          <p:cNvSpPr/>
          <p:nvPr/>
        </p:nvSpPr>
        <p:spPr>
          <a:xfrm rot="180000">
            <a:off x="7863840" y="1234440"/>
            <a:ext cx="3657600" cy="4572000"/>
          </a:xfrm>
          <a:prstGeom prst="roundRect">
            <a:avLst>
              <a:gd name="adj" fmla="val 2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219456" rIns="365760" bIns="219456" rtlCol="0" anchor="ctr"/>
          <a:lstStyle/>
          <a:p>
            <a:pPr algn="l" eaLnBrk="0">
              <a:spcAft>
                <a:spcPts val="0"/>
              </a:spcAft>
            </a:pPr>
            <a:r>
              <a:rPr sz="2400" b="1" i="0" dirty="0">
                <a:solidFill>
                  <a:srgbClr val="2A2622"/>
                </a:solidFill>
                <a:latin typeface="맑은 고딕"/>
                <a:ea typeface="맑은 고딕"/>
                <a:cs typeface="맑은 고딕"/>
              </a:rPr>
              <a:t>근 무 계 약 서</a:t>
            </a:r>
            <a:r>
              <a:rPr sz="800" b="0" i="0" dirty="0">
                <a:solidFill>
                  <a:srgbClr val="2A2622"/>
                </a:solidFill>
                <a:latin typeface="맑은 고딕"/>
                <a:ea typeface="맑은 고딕"/>
                <a:cs typeface="맑은 고딕"/>
              </a:rPr>
              <a:t> </a:t>
            </a:r>
          </a:p>
          <a:p>
            <a:pPr algn="l" eaLnBrk="0">
              <a:spcAft>
                <a:spcPts val="0"/>
              </a:spcAft>
            </a:pPr>
            <a:r>
              <a:rPr sz="1600" b="0" i="0" dirty="0" err="1">
                <a:solidFill>
                  <a:srgbClr val="2A2622"/>
                </a:solidFill>
                <a:latin typeface="맑은 고딕"/>
                <a:ea typeface="맑은 고딕"/>
                <a:cs typeface="맑은 고딕"/>
              </a:rPr>
              <a:t>지원</a:t>
            </a:r>
            <a:r>
              <a:rPr sz="1600" b="0" i="0" dirty="0">
                <a:solidFill>
                  <a:srgbClr val="2A2622"/>
                </a:solidFill>
                <a:latin typeface="맑은 고딕"/>
                <a:ea typeface="맑은 고딕"/>
                <a:cs typeface="맑은 고딕"/>
              </a:rPr>
              <a:t> </a:t>
            </a:r>
            <a:r>
              <a:rPr sz="1600" b="0" i="0" dirty="0" err="1">
                <a:solidFill>
                  <a:srgbClr val="2A2622"/>
                </a:solidFill>
                <a:latin typeface="맑은 고딕"/>
                <a:ea typeface="맑은 고딕"/>
                <a:cs typeface="맑은 고딕"/>
              </a:rPr>
              <a:t>동기</a:t>
            </a:r>
            <a:r>
              <a:rPr sz="1600" b="0" i="0" dirty="0">
                <a:solidFill>
                  <a:srgbClr val="2A2622"/>
                </a:solidFill>
                <a:latin typeface="맑은 고딕"/>
                <a:ea typeface="맑은 고딕"/>
                <a:cs typeface="맑은 고딕"/>
              </a:rPr>
              <a:t>  □ 돈  □ </a:t>
            </a:r>
            <a:r>
              <a:rPr sz="1600" b="0" i="0" dirty="0" err="1">
                <a:solidFill>
                  <a:srgbClr val="2A2622"/>
                </a:solidFill>
                <a:latin typeface="맑은 고딕"/>
                <a:ea typeface="맑은 고딕"/>
                <a:cs typeface="맑은 고딕"/>
              </a:rPr>
              <a:t>사면</a:t>
            </a:r>
            <a:endParaRPr sz="1600" b="0" i="0" dirty="0">
              <a:solidFill>
                <a:srgbClr val="2A2622"/>
              </a:solidFill>
              <a:latin typeface="맑은 고딕"/>
              <a:ea typeface="맑은 고딕"/>
              <a:cs typeface="맑은 고딕"/>
            </a:endParaRPr>
          </a:p>
          <a:p>
            <a:pPr algn="l" eaLnBrk="0">
              <a:spcAft>
                <a:spcPts val="0"/>
              </a:spcAft>
            </a:pPr>
            <a:r>
              <a:rPr sz="1600" b="0" i="0" dirty="0">
                <a:solidFill>
                  <a:srgbClr val="2A2622"/>
                </a:solidFill>
                <a:latin typeface="맑은 고딕"/>
                <a:ea typeface="맑은 고딕"/>
                <a:cs typeface="맑은 고딕"/>
              </a:rPr>
              <a:t>□ </a:t>
            </a:r>
            <a:r>
              <a:rPr sz="1600" b="0" i="0" dirty="0" err="1">
                <a:solidFill>
                  <a:srgbClr val="2A2622"/>
                </a:solidFill>
                <a:latin typeface="맑은 고딕"/>
                <a:ea typeface="맑은 고딕"/>
                <a:cs typeface="맑은 고딕"/>
              </a:rPr>
              <a:t>가족</a:t>
            </a:r>
            <a:r>
              <a:rPr sz="1600" b="0" i="0" dirty="0">
                <a:solidFill>
                  <a:srgbClr val="2A2622"/>
                </a:solidFill>
                <a:latin typeface="맑은 고딕"/>
                <a:ea typeface="맑은 고딕"/>
                <a:cs typeface="맑은 고딕"/>
              </a:rPr>
              <a:t> </a:t>
            </a:r>
            <a:r>
              <a:rPr sz="1600" b="0" i="0" dirty="0" err="1">
                <a:solidFill>
                  <a:srgbClr val="2A2622"/>
                </a:solidFill>
                <a:latin typeface="맑은 고딕"/>
                <a:ea typeface="맑은 고딕"/>
                <a:cs typeface="맑은 고딕"/>
              </a:rPr>
              <a:t>치료</a:t>
            </a:r>
            <a:r>
              <a:rPr sz="1600" b="0" i="0" dirty="0">
                <a:solidFill>
                  <a:srgbClr val="2A2622"/>
                </a:solidFill>
                <a:latin typeface="맑은 고딕"/>
                <a:ea typeface="맑은 고딕"/>
                <a:cs typeface="맑은 고딕"/>
              </a:rPr>
              <a:t>  □ </a:t>
            </a:r>
            <a:r>
              <a:rPr sz="1600" b="0" i="0" dirty="0" err="1">
                <a:solidFill>
                  <a:srgbClr val="2A2622"/>
                </a:solidFill>
                <a:latin typeface="맑은 고딕"/>
                <a:ea typeface="맑은 고딕"/>
                <a:cs typeface="맑은 고딕"/>
              </a:rPr>
              <a:t>호기심</a:t>
            </a:r>
            <a:endParaRPr sz="1600" b="0" i="0" dirty="0">
              <a:solidFill>
                <a:srgbClr val="2A2622"/>
              </a:solidFill>
              <a:latin typeface="맑은 고딕"/>
              <a:ea typeface="맑은 고딕"/>
              <a:cs typeface="맑은 고딕"/>
            </a:endParaRPr>
          </a:p>
          <a:p>
            <a:pPr algn="l" eaLnBrk="0">
              <a:spcAft>
                <a:spcPts val="0"/>
              </a:spcAft>
            </a:pPr>
            <a:r>
              <a:rPr sz="800" b="0" i="0" dirty="0">
                <a:solidFill>
                  <a:srgbClr val="2A2622"/>
                </a:solidFill>
                <a:latin typeface="맑은 고딕"/>
                <a:ea typeface="맑은 고딕"/>
                <a:cs typeface="맑은 고딕"/>
              </a:rPr>
              <a:t> </a:t>
            </a:r>
          </a:p>
          <a:p>
            <a:pPr algn="l" eaLnBrk="0">
              <a:spcAft>
                <a:spcPts val="0"/>
              </a:spcAft>
            </a:pPr>
            <a:r>
              <a:rPr sz="1600" b="1" i="0" dirty="0" err="1">
                <a:solidFill>
                  <a:srgbClr val="2A2622"/>
                </a:solidFill>
                <a:latin typeface="맑은 고딕"/>
                <a:ea typeface="맑은 고딕"/>
                <a:cs typeface="맑은 고딕"/>
              </a:rPr>
              <a:t>계약</a:t>
            </a:r>
            <a:r>
              <a:rPr sz="1600" b="1" i="0" dirty="0">
                <a:solidFill>
                  <a:srgbClr val="2A2622"/>
                </a:solidFill>
                <a:latin typeface="맑은 고딕"/>
                <a:ea typeface="맑은 고딕"/>
                <a:cs typeface="맑은 고딕"/>
              </a:rPr>
              <a:t> </a:t>
            </a:r>
            <a:r>
              <a:rPr sz="1600" b="1" i="0" dirty="0" err="1">
                <a:solidFill>
                  <a:srgbClr val="2A2622"/>
                </a:solidFill>
                <a:latin typeface="맑은 고딕"/>
                <a:ea typeface="맑은 고딕"/>
                <a:cs typeface="맑은 고딕"/>
              </a:rPr>
              <a:t>사유는</a:t>
            </a:r>
            <a:r>
              <a:rPr sz="1600" b="1" i="0" dirty="0">
                <a:solidFill>
                  <a:srgbClr val="2A2622"/>
                </a:solidFill>
                <a:latin typeface="맑은 고딕"/>
                <a:ea typeface="맑은 고딕"/>
                <a:cs typeface="맑은 고딕"/>
              </a:rPr>
              <a:t> </a:t>
            </a:r>
            <a:r>
              <a:rPr sz="1600" b="1" i="0" dirty="0" err="1">
                <a:solidFill>
                  <a:srgbClr val="2A2622"/>
                </a:solidFill>
                <a:latin typeface="맑은 고딕"/>
                <a:ea typeface="맑은 고딕"/>
                <a:cs typeface="맑은 고딕"/>
              </a:rPr>
              <a:t>중요하지</a:t>
            </a:r>
            <a:r>
              <a:rPr sz="1600" b="1" i="0" dirty="0">
                <a:solidFill>
                  <a:srgbClr val="2A2622"/>
                </a:solidFill>
                <a:latin typeface="맑은 고딕"/>
                <a:ea typeface="맑은 고딕"/>
                <a:cs typeface="맑은 고딕"/>
              </a:rPr>
              <a:t> </a:t>
            </a:r>
            <a:r>
              <a:rPr sz="1600" b="1" i="0" dirty="0" err="1">
                <a:solidFill>
                  <a:srgbClr val="2A2622"/>
                </a:solidFill>
                <a:latin typeface="맑은 고딕"/>
                <a:ea typeface="맑은 고딕"/>
                <a:cs typeface="맑은 고딕"/>
              </a:rPr>
              <a:t>않다</a:t>
            </a:r>
            <a:r>
              <a:rPr sz="1600" b="1" i="0" dirty="0">
                <a:solidFill>
                  <a:srgbClr val="2A2622"/>
                </a:solidFill>
                <a:latin typeface="맑은 고딕"/>
                <a:ea typeface="맑은 고딕"/>
                <a:cs typeface="맑은 고딕"/>
              </a:rPr>
              <a:t>.</a:t>
            </a:r>
          </a:p>
        </p:txBody>
      </p:sp>
      <p:sp>
        <p:nvSpPr>
          <p:cNvPr id="6" name="Stamp"/>
          <p:cNvSpPr/>
          <p:nvPr/>
        </p:nvSpPr>
        <p:spPr>
          <a:xfrm rot="21120000">
            <a:off x="9692639" y="4340546"/>
            <a:ext cx="1554480" cy="713232"/>
          </a:xfrm>
          <a:prstGeom prst="rect">
            <a:avLst/>
          </a:prstGeom>
          <a:noFill/>
          <a:ln w="38100">
            <a:solidFill>
              <a:srgbClr val="C8372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600" b="1" i="0">
                <a:solidFill>
                  <a:srgbClr val="C8372D"/>
                </a:solidFill>
                <a:latin typeface="맑은 고딕"/>
                <a:ea typeface="맑은 고딕"/>
                <a:cs typeface="맑은 고딕"/>
              </a:rPr>
              <a:t>승 인</a:t>
            </a:r>
          </a:p>
        </p:txBody>
      </p:sp>
      <p:sp>
        <p:nvSpPr>
          <p:cNvPr id="7" name="TextBox 6">
            <a:extLst>
              <a:ext uri="{FF2B5EF4-FFF2-40B4-BE49-F238E27FC236}">
                <a16:creationId xmlns:a16="http://schemas.microsoft.com/office/drawing/2014/main" id="{B0AC9464-47A3-43FE-B04E-CC2F84E2797D}"/>
              </a:ext>
            </a:extLst>
          </p:cNvPr>
          <p:cNvSpPr txBox="1"/>
          <p:nvPr/>
        </p:nvSpPr>
        <p:spPr>
          <a:xfrm>
            <a:off x="8059184" y="5158479"/>
            <a:ext cx="1739304" cy="738664"/>
          </a:xfrm>
          <a:prstGeom prst="rect">
            <a:avLst/>
          </a:prstGeom>
          <a:noFill/>
        </p:spPr>
        <p:txBody>
          <a:bodyPr wrap="square" rtlCol="0">
            <a:spAutoFit/>
          </a:bodyPr>
          <a:lstStyle/>
          <a:p>
            <a:r>
              <a:rPr lang="ko-KR" altLang="en-US" dirty="0">
                <a:solidFill>
                  <a:srgbClr val="2A2622"/>
                </a:solidFill>
                <a:latin typeface="맑은 고딕"/>
                <a:ea typeface="맑은 고딕"/>
                <a:cs typeface="맑은 고딕"/>
              </a:rPr>
              <a:t>성명  </a:t>
            </a:r>
            <a:r>
              <a:rPr lang="ko-KR" altLang="en-US" sz="2400" u="sng" dirty="0">
                <a:solidFill>
                  <a:srgbClr val="2A2622"/>
                </a:solidFill>
                <a:latin typeface="맑은 고딕"/>
                <a:ea typeface="맑은 고딕"/>
                <a:cs typeface="맑은 고딕"/>
              </a:rPr>
              <a:t>박주환</a:t>
            </a:r>
            <a:endParaRPr lang="en-US" altLang="ko-KR" sz="2400" dirty="0">
              <a:solidFill>
                <a:srgbClr val="2A2622"/>
              </a:solidFill>
              <a:latin typeface="맑은 고딕"/>
              <a:ea typeface="맑은 고딕"/>
              <a:cs typeface="맑은 고딕"/>
            </a:endParaRPr>
          </a:p>
          <a:p>
            <a:endParaRPr lang="ko-KR"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8961120" cy="822960"/>
          </a:xfrm>
          <a:prstGeom prst="rect">
            <a:avLst/>
          </a:prstGeom>
          <a:noFill/>
        </p:spPr>
        <p:txBody>
          <a:bodyPr wrap="square" lIns="0" tIns="0" rIns="0" bIns="0" anchor="ctr">
            <a:spAutoFit/>
          </a:bodyPr>
          <a:lstStyle/>
          <a:p>
            <a:pPr algn="l" eaLnBrk="0">
              <a:spcAft>
                <a:spcPts val="0"/>
              </a:spcAft>
            </a:pPr>
            <a:r>
              <a:rPr sz="3800" b="1" i="0">
                <a:solidFill>
                  <a:srgbClr val="F7F2E7"/>
                </a:solidFill>
                <a:latin typeface="맑은 고딕"/>
                <a:ea typeface="맑은 고딕"/>
                <a:cs typeface="맑은 고딕"/>
              </a:rPr>
              <a:t>시연 영상</a:t>
            </a:r>
          </a:p>
        </p:txBody>
      </p:sp>
      <p:sp>
        <p:nvSpPr>
          <p:cNvPr id="3" name="Stamp"/>
          <p:cNvSpPr/>
          <p:nvPr/>
        </p:nvSpPr>
        <p:spPr>
          <a:xfrm rot="300000">
            <a:off x="10195560" y="502920"/>
            <a:ext cx="1463040" cy="658368"/>
          </a:xfrm>
          <a:prstGeom prst="rect">
            <a:avLst/>
          </a:prstGeom>
          <a:noFill/>
          <a:ln w="3175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200" b="1" i="0">
                <a:solidFill>
                  <a:srgbClr val="E5483C"/>
                </a:solidFill>
                <a:latin typeface="맑은 고딕"/>
                <a:ea typeface="맑은 고딕"/>
                <a:cs typeface="맑은 고딕"/>
              </a:rPr>
              <a:t>시연</a:t>
            </a:r>
          </a:p>
        </p:txBody>
      </p:sp>
      <p:sp>
        <p:nvSpPr>
          <p:cNvPr id="4" name="VideoFrame"/>
          <p:cNvSpPr/>
          <p:nvPr/>
        </p:nvSpPr>
        <p:spPr>
          <a:xfrm>
            <a:off x="1709928" y="1417320"/>
            <a:ext cx="8778240" cy="4800600"/>
          </a:xfrm>
          <a:prstGeom prst="roundRect">
            <a:avLst>
              <a:gd name="adj" fmla="val 2000"/>
            </a:avLst>
          </a:prstGeom>
          <a:solidFill>
            <a:srgbClr val="2B2926"/>
          </a:solidFill>
          <a:ln w="19050">
            <a:solidFill>
              <a:srgbClr val="B4AE9F"/>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65836" rIns="109728" bIns="65836" rtlCol="0" anchor="ctr"/>
          <a:lstStyle/>
          <a:p>
            <a:pPr algn="ctr" eaLnBrk="0">
              <a:spcAft>
                <a:spcPts val="600"/>
              </a:spcAft>
            </a:pPr>
            <a:r>
              <a:rPr sz="5400" b="1" i="0">
                <a:solidFill>
                  <a:srgbClr val="E5483C"/>
                </a:solidFill>
                <a:latin typeface="맑은 고딕"/>
                <a:ea typeface="맑은 고딕"/>
                <a:cs typeface="맑은 고딕"/>
              </a:rPr>
              <a:t>▶</a:t>
            </a:r>
          </a:p>
          <a:p>
            <a:pPr algn="ctr" eaLnBrk="0">
              <a:spcAft>
                <a:spcPts val="600"/>
              </a:spcAft>
            </a:pPr>
            <a:r>
              <a:rPr sz="2800" b="1" i="0">
                <a:solidFill>
                  <a:srgbClr val="F7F2E7"/>
                </a:solidFill>
                <a:latin typeface="맑은 고딕"/>
                <a:ea typeface="맑은 고딕"/>
                <a:cs typeface="맑은 고딕"/>
              </a:rPr>
              <a:t>시연 영상 · 58초</a:t>
            </a:r>
          </a:p>
          <a:p>
            <a:pPr algn="ctr" eaLnBrk="0">
              <a:spcAft>
                <a:spcPts val="600"/>
              </a:spcAft>
            </a:pPr>
            <a:r>
              <a:rPr sz="1400" b="0" i="0">
                <a:solidFill>
                  <a:srgbClr val="B4AE9F"/>
                </a:solidFill>
                <a:latin typeface="맑은 고딕"/>
                <a:ea typeface="맑은 고딕"/>
                <a:cs typeface="맑은 고딕"/>
              </a:rPr>
              <a:t>영상을 이 상자 위에 삽입 (삽입 후 상자 삭제)</a:t>
            </a:r>
          </a:p>
        </p:txBody>
      </p:sp>
      <p:sp>
        <p:nvSpPr>
          <p:cNvPr id="5"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6"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2 / 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8961120" cy="822960"/>
          </a:xfrm>
          <a:prstGeom prst="rect">
            <a:avLst/>
          </a:prstGeom>
          <a:noFill/>
        </p:spPr>
        <p:txBody>
          <a:bodyPr wrap="square" lIns="0" tIns="0" rIns="0" bIns="0" anchor="ctr">
            <a:spAutoFit/>
          </a:bodyPr>
          <a:lstStyle/>
          <a:p>
            <a:pPr algn="l" eaLnBrk="0">
              <a:spcAft>
                <a:spcPts val="0"/>
              </a:spcAft>
            </a:pPr>
            <a:r>
              <a:rPr sz="3800" b="1" i="0">
                <a:solidFill>
                  <a:srgbClr val="F7F2E7"/>
                </a:solidFill>
                <a:latin typeface="맑은 고딕"/>
                <a:ea typeface="맑은 고딕"/>
                <a:cs typeface="맑은 고딕"/>
              </a:rPr>
              <a:t>이유는 중요하지 않다</a:t>
            </a:r>
          </a:p>
        </p:txBody>
      </p:sp>
      <p:sp>
        <p:nvSpPr>
          <p:cNvPr id="3" name="Stamp"/>
          <p:cNvSpPr/>
          <p:nvPr/>
        </p:nvSpPr>
        <p:spPr>
          <a:xfrm rot="300000">
            <a:off x="10195560" y="502920"/>
            <a:ext cx="1463040" cy="658368"/>
          </a:xfrm>
          <a:prstGeom prst="rect">
            <a:avLst/>
          </a:prstGeom>
          <a:noFill/>
          <a:ln w="3175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200" b="1" i="0">
                <a:solidFill>
                  <a:srgbClr val="E5483C"/>
                </a:solidFill>
                <a:latin typeface="맑은 고딕"/>
                <a:ea typeface="맑은 고딕"/>
                <a:cs typeface="맑은 고딕"/>
              </a:rPr>
              <a:t>기획</a:t>
            </a:r>
          </a:p>
        </p:txBody>
      </p:sp>
      <p:sp>
        <p:nvSpPr>
          <p:cNvPr id="4" name="StoryNum1"/>
          <p:cNvSpPr/>
          <p:nvPr/>
        </p:nvSpPr>
        <p:spPr>
          <a:xfrm>
            <a:off x="548640" y="1709928"/>
            <a:ext cx="640080" cy="640080"/>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eaLnBrk="0">
              <a:spcAft>
                <a:spcPts val="0"/>
              </a:spcAft>
            </a:pPr>
            <a:r>
              <a:rPr sz="2400" b="1" i="0">
                <a:solidFill>
                  <a:srgbClr val="1E1D1B"/>
                </a:solidFill>
                <a:latin typeface="맑은 고딕"/>
                <a:ea typeface="맑은 고딕"/>
                <a:cs typeface="맑은 고딕"/>
              </a:rPr>
              <a:t>1</a:t>
            </a:r>
          </a:p>
        </p:txBody>
      </p:sp>
      <p:sp>
        <p:nvSpPr>
          <p:cNvPr id="5" name="StoryText1"/>
          <p:cNvSpPr txBox="1"/>
          <p:nvPr/>
        </p:nvSpPr>
        <p:spPr>
          <a:xfrm>
            <a:off x="1417320" y="1600200"/>
            <a:ext cx="4206240" cy="868680"/>
          </a:xfrm>
          <a:prstGeom prst="rect">
            <a:avLst/>
          </a:prstGeom>
          <a:noFill/>
        </p:spPr>
        <p:txBody>
          <a:bodyPr wrap="square" lIns="0" tIns="0" rIns="0" bIns="0" anchor="ctr">
            <a:spAutoFit/>
          </a:bodyPr>
          <a:lstStyle/>
          <a:p>
            <a:pPr algn="l" eaLnBrk="0">
              <a:spcAft>
                <a:spcPts val="0"/>
              </a:spcAft>
            </a:pPr>
            <a:r>
              <a:rPr sz="2000" b="1" i="0">
                <a:solidFill>
                  <a:srgbClr val="F7F2E7"/>
                </a:solidFill>
                <a:latin typeface="맑은 고딕"/>
                <a:ea typeface="맑은 고딕"/>
                <a:cs typeface="맑은 고딕"/>
              </a:rPr>
              <a:t>크리스탈 좀비 행성 발견</a:t>
            </a:r>
          </a:p>
        </p:txBody>
      </p:sp>
      <p:sp>
        <p:nvSpPr>
          <p:cNvPr id="6" name="StoryNum2"/>
          <p:cNvSpPr/>
          <p:nvPr/>
        </p:nvSpPr>
        <p:spPr>
          <a:xfrm>
            <a:off x="548640" y="2807208"/>
            <a:ext cx="640080" cy="640080"/>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eaLnBrk="0">
              <a:spcAft>
                <a:spcPts val="0"/>
              </a:spcAft>
            </a:pPr>
            <a:r>
              <a:rPr sz="2400" b="1" i="0">
                <a:solidFill>
                  <a:srgbClr val="1E1D1B"/>
                </a:solidFill>
                <a:latin typeface="맑은 고딕"/>
                <a:ea typeface="맑은 고딕"/>
                <a:cs typeface="맑은 고딕"/>
              </a:rPr>
              <a:t>2</a:t>
            </a:r>
          </a:p>
        </p:txBody>
      </p:sp>
      <p:sp>
        <p:nvSpPr>
          <p:cNvPr id="7" name="StoryText2"/>
          <p:cNvSpPr txBox="1"/>
          <p:nvPr/>
        </p:nvSpPr>
        <p:spPr>
          <a:xfrm>
            <a:off x="1417320" y="2697480"/>
            <a:ext cx="4206240" cy="868680"/>
          </a:xfrm>
          <a:prstGeom prst="rect">
            <a:avLst/>
          </a:prstGeom>
          <a:noFill/>
        </p:spPr>
        <p:txBody>
          <a:bodyPr wrap="square" lIns="0" tIns="0" rIns="0" bIns="0" anchor="ctr">
            <a:spAutoFit/>
          </a:bodyPr>
          <a:lstStyle/>
          <a:p>
            <a:pPr algn="l" eaLnBrk="0">
              <a:spcAft>
                <a:spcPts val="0"/>
              </a:spcAft>
            </a:pPr>
            <a:r>
              <a:rPr sz="2000" b="1" i="0">
                <a:solidFill>
                  <a:srgbClr val="F7F2E7"/>
                </a:solidFill>
                <a:latin typeface="맑은 고딕"/>
                <a:ea typeface="맑은 고딕"/>
                <a:cs typeface="맑은 고딕"/>
              </a:rPr>
              <a:t>크리스탈로 만능 제작기 가동</a:t>
            </a:r>
          </a:p>
        </p:txBody>
      </p:sp>
      <p:sp>
        <p:nvSpPr>
          <p:cNvPr id="8" name="StoryNum3"/>
          <p:cNvSpPr/>
          <p:nvPr/>
        </p:nvSpPr>
        <p:spPr>
          <a:xfrm>
            <a:off x="548640" y="3904488"/>
            <a:ext cx="640080" cy="640080"/>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eaLnBrk="0">
              <a:spcAft>
                <a:spcPts val="0"/>
              </a:spcAft>
            </a:pPr>
            <a:r>
              <a:rPr sz="2400" b="1" i="0">
                <a:solidFill>
                  <a:srgbClr val="1E1D1B"/>
                </a:solidFill>
                <a:latin typeface="맑은 고딕"/>
                <a:ea typeface="맑은 고딕"/>
                <a:cs typeface="맑은 고딕"/>
              </a:rPr>
              <a:t>3</a:t>
            </a:r>
          </a:p>
        </p:txBody>
      </p:sp>
      <p:sp>
        <p:nvSpPr>
          <p:cNvPr id="9" name="StoryText3"/>
          <p:cNvSpPr txBox="1"/>
          <p:nvPr/>
        </p:nvSpPr>
        <p:spPr>
          <a:xfrm>
            <a:off x="1417320" y="3794760"/>
            <a:ext cx="4206240" cy="868680"/>
          </a:xfrm>
          <a:prstGeom prst="rect">
            <a:avLst/>
          </a:prstGeom>
          <a:noFill/>
        </p:spPr>
        <p:txBody>
          <a:bodyPr wrap="square" lIns="0" tIns="0" rIns="0" bIns="0" anchor="ctr">
            <a:spAutoFit/>
          </a:bodyPr>
          <a:lstStyle/>
          <a:p>
            <a:pPr algn="l" eaLnBrk="0">
              <a:spcAft>
                <a:spcPts val="0"/>
              </a:spcAft>
            </a:pPr>
            <a:r>
              <a:rPr sz="2000" b="1" i="0">
                <a:solidFill>
                  <a:srgbClr val="F7F2E7"/>
                </a:solidFill>
                <a:latin typeface="맑은 고딕"/>
                <a:ea typeface="맑은 고딕"/>
                <a:cs typeface="맑은 고딕"/>
              </a:rPr>
              <a:t>채굴 인력 전멸</a:t>
            </a:r>
          </a:p>
        </p:txBody>
      </p:sp>
      <p:sp>
        <p:nvSpPr>
          <p:cNvPr id="10" name="StoryNum4"/>
          <p:cNvSpPr/>
          <p:nvPr/>
        </p:nvSpPr>
        <p:spPr>
          <a:xfrm>
            <a:off x="548640" y="5001768"/>
            <a:ext cx="640080" cy="640080"/>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eaLnBrk="0">
              <a:spcAft>
                <a:spcPts val="0"/>
              </a:spcAft>
            </a:pPr>
            <a:r>
              <a:rPr sz="2400" b="1" i="0">
                <a:solidFill>
                  <a:srgbClr val="1E1D1B"/>
                </a:solidFill>
                <a:latin typeface="맑은 고딕"/>
                <a:ea typeface="맑은 고딕"/>
                <a:cs typeface="맑은 고딕"/>
              </a:rPr>
              <a:t>4</a:t>
            </a:r>
          </a:p>
        </p:txBody>
      </p:sp>
      <p:sp>
        <p:nvSpPr>
          <p:cNvPr id="11" name="StoryText4"/>
          <p:cNvSpPr txBox="1"/>
          <p:nvPr/>
        </p:nvSpPr>
        <p:spPr>
          <a:xfrm>
            <a:off x="1417320" y="4892040"/>
            <a:ext cx="4206240" cy="868680"/>
          </a:xfrm>
          <a:prstGeom prst="rect">
            <a:avLst/>
          </a:prstGeom>
          <a:noFill/>
        </p:spPr>
        <p:txBody>
          <a:bodyPr wrap="square" lIns="0" tIns="0" rIns="0" bIns="0" anchor="ctr">
            <a:spAutoFit/>
          </a:bodyPr>
          <a:lstStyle/>
          <a:p>
            <a:pPr algn="l" eaLnBrk="0">
              <a:spcAft>
                <a:spcPts val="0"/>
              </a:spcAft>
            </a:pPr>
            <a:r>
              <a:rPr sz="2000" b="1" i="0">
                <a:solidFill>
                  <a:srgbClr val="F7F2E7"/>
                </a:solidFill>
                <a:latin typeface="맑은 고딕"/>
                <a:ea typeface="맑은 고딕"/>
                <a:cs typeface="맑은 고딕"/>
              </a:rPr>
              <a:t>지원자 모집
동기는 적되, 이유는 중요하지 않다</a:t>
            </a:r>
          </a:p>
        </p:txBody>
      </p:sp>
      <p:sp>
        <p:nvSpPr>
          <p:cNvPr id="12" name="IntentCard1"/>
          <p:cNvSpPr/>
          <p:nvPr/>
        </p:nvSpPr>
        <p:spPr>
          <a:xfrm>
            <a:off x="6172200" y="1600200"/>
            <a:ext cx="5468112" cy="137160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64592" rIns="274320" bIns="164592" rtlCol="0" anchor="ctr"/>
          <a:lstStyle/>
          <a:p>
            <a:pPr algn="l" eaLnBrk="0">
              <a:spcAft>
                <a:spcPts val="400"/>
              </a:spcAft>
            </a:pPr>
            <a:r>
              <a:rPr sz="2000" b="1" i="0">
                <a:solidFill>
                  <a:srgbClr val="C8372D"/>
                </a:solidFill>
                <a:latin typeface="맑은 고딕"/>
                <a:ea typeface="맑은 고딕"/>
                <a:cs typeface="맑은 고딕"/>
              </a:rPr>
              <a:t>제목이 곧 핵심</a:t>
            </a:r>
          </a:p>
          <a:p>
            <a:pPr algn="l" eaLnBrk="0">
              <a:spcAft>
                <a:spcPts val="400"/>
              </a:spcAft>
            </a:pPr>
            <a:r>
              <a:rPr sz="1600" b="0" i="0">
                <a:solidFill>
                  <a:srgbClr val="2A2622"/>
                </a:solidFill>
                <a:latin typeface="맑은 고딕"/>
                <a:ea typeface="맑은 고딕"/>
                <a:cs typeface="맑은 고딕"/>
              </a:rPr>
              <a:t>왜 하는지는 중요하지 않고 상관하지 않는다.
그 뜻을 그대로 옮긴 이름이 '사유 불문'.</a:t>
            </a:r>
          </a:p>
        </p:txBody>
      </p:sp>
      <p:sp>
        <p:nvSpPr>
          <p:cNvPr id="13" name="IntentCard2"/>
          <p:cNvSpPr/>
          <p:nvPr/>
        </p:nvSpPr>
        <p:spPr>
          <a:xfrm>
            <a:off x="6172200" y="3108960"/>
            <a:ext cx="5468112" cy="137160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64592" rIns="274320" bIns="164592" rtlCol="0" anchor="ctr"/>
          <a:lstStyle/>
          <a:p>
            <a:pPr algn="l" eaLnBrk="0">
              <a:spcAft>
                <a:spcPts val="400"/>
              </a:spcAft>
            </a:pPr>
            <a:r>
              <a:rPr sz="2000" b="1" i="0">
                <a:solidFill>
                  <a:srgbClr val="C8372D"/>
                </a:solidFill>
                <a:latin typeface="맑은 고딕"/>
                <a:ea typeface="맑은 고딕"/>
                <a:cs typeface="맑은 고딕"/>
              </a:rPr>
              <a:t>서류 UI = 세계관</a:t>
            </a:r>
          </a:p>
          <a:p>
            <a:pPr algn="l" eaLnBrk="0">
              <a:spcAft>
                <a:spcPts val="400"/>
              </a:spcAft>
            </a:pPr>
            <a:r>
              <a:rPr sz="1600" b="0" i="0">
                <a:solidFill>
                  <a:srgbClr val="2A2622"/>
                </a:solidFill>
                <a:latin typeface="맑은 고딕"/>
                <a:ea typeface="맑은 고딕"/>
                <a:cs typeface="맑은 고딕"/>
              </a:rPr>
              <a:t>난이도와 지원 동기를 근무계약서에
체크하고 도장을 찍는 방식으로 선택.</a:t>
            </a:r>
          </a:p>
        </p:txBody>
      </p:sp>
      <p:sp>
        <p:nvSpPr>
          <p:cNvPr id="14" name="IntentCard3"/>
          <p:cNvSpPr/>
          <p:nvPr/>
        </p:nvSpPr>
        <p:spPr>
          <a:xfrm>
            <a:off x="6172200" y="4617720"/>
            <a:ext cx="5468112" cy="137160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64592" rIns="274320" bIns="164592" rtlCol="0" anchor="ctr"/>
          <a:lstStyle/>
          <a:p>
            <a:pPr algn="l" eaLnBrk="0">
              <a:spcAft>
                <a:spcPts val="400"/>
              </a:spcAft>
            </a:pPr>
            <a:r>
              <a:rPr sz="2000" b="1" i="0">
                <a:solidFill>
                  <a:srgbClr val="C8372D"/>
                </a:solidFill>
                <a:latin typeface="맑은 고딕"/>
                <a:ea typeface="맑은 고딕"/>
                <a:cs typeface="맑은 고딕"/>
              </a:rPr>
              <a:t>지원 동기 9종 → 엔딩</a:t>
            </a:r>
          </a:p>
          <a:p>
            <a:pPr algn="l" eaLnBrk="0">
              <a:spcAft>
                <a:spcPts val="400"/>
              </a:spcAft>
            </a:pPr>
            <a:r>
              <a:rPr sz="1600" b="0" i="0">
                <a:solidFill>
                  <a:srgbClr val="2A2622"/>
                </a:solidFill>
                <a:latin typeface="맑은 고딕"/>
                <a:ea typeface="맑은 고딕"/>
                <a:cs typeface="맑은 고딕"/>
              </a:rPr>
              <a:t>동기는 묻지만 게임에는 영향이 없다.
고른 동기에 맞는 엔딩 텍스트만 달라진다.</a:t>
            </a:r>
          </a:p>
        </p:txBody>
      </p:sp>
      <p:sp>
        <p:nvSpPr>
          <p:cNvPr id="15"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16"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3 / 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8961120" cy="822960"/>
          </a:xfrm>
          <a:prstGeom prst="rect">
            <a:avLst/>
          </a:prstGeom>
          <a:noFill/>
        </p:spPr>
        <p:txBody>
          <a:bodyPr wrap="square" lIns="0" tIns="0" rIns="0" bIns="0" anchor="ctr">
            <a:spAutoFit/>
          </a:bodyPr>
          <a:lstStyle/>
          <a:p>
            <a:pPr algn="l" eaLnBrk="0">
              <a:spcAft>
                <a:spcPts val="0"/>
              </a:spcAft>
            </a:pPr>
            <a:r>
              <a:rPr sz="3800" b="1" i="0">
                <a:solidFill>
                  <a:srgbClr val="F7F2E7"/>
                </a:solidFill>
                <a:latin typeface="맑은 고딕"/>
                <a:ea typeface="맑은 고딕"/>
                <a:cs typeface="맑은 고딕"/>
              </a:rPr>
              <a:t>한 판의 흐름</a:t>
            </a:r>
          </a:p>
        </p:txBody>
      </p:sp>
      <p:sp>
        <p:nvSpPr>
          <p:cNvPr id="3" name="Stamp"/>
          <p:cNvSpPr/>
          <p:nvPr/>
        </p:nvSpPr>
        <p:spPr>
          <a:xfrm rot="300000">
            <a:off x="10195560" y="502920"/>
            <a:ext cx="1463040" cy="658368"/>
          </a:xfrm>
          <a:prstGeom prst="rect">
            <a:avLst/>
          </a:prstGeom>
          <a:noFill/>
          <a:ln w="3175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200" b="1" i="0">
                <a:solidFill>
                  <a:srgbClr val="E5483C"/>
                </a:solidFill>
                <a:latin typeface="맑은 고딕"/>
                <a:ea typeface="맑은 고딕"/>
                <a:cs typeface="맑은 고딕"/>
              </a:rPr>
              <a:t>루프</a:t>
            </a:r>
          </a:p>
        </p:txBody>
      </p:sp>
      <p:sp>
        <p:nvSpPr>
          <p:cNvPr id="4" name="Step1"/>
          <p:cNvSpPr/>
          <p:nvPr/>
        </p:nvSpPr>
        <p:spPr>
          <a:xfrm>
            <a:off x="548640" y="1554480"/>
            <a:ext cx="1920240" cy="1143000"/>
          </a:xfrm>
          <a:prstGeom prst="homePlate">
            <a:avLst>
              <a:gd name="adj" fmla="val 28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eaLnBrk="0">
              <a:spcAft>
                <a:spcPts val="0"/>
              </a:spcAft>
            </a:pPr>
            <a:r>
              <a:rPr sz="1400" b="1" i="0">
                <a:solidFill>
                  <a:srgbClr val="C8372D"/>
                </a:solidFill>
                <a:latin typeface="맑은 고딕"/>
                <a:ea typeface="맑은 고딕"/>
                <a:cs typeface="맑은 고딕"/>
              </a:rPr>
              <a:t>1</a:t>
            </a:r>
          </a:p>
          <a:p>
            <a:pPr algn="ctr" eaLnBrk="0">
              <a:spcAft>
                <a:spcPts val="0"/>
              </a:spcAft>
            </a:pPr>
            <a:r>
              <a:rPr sz="1700" b="1" i="0">
                <a:solidFill>
                  <a:srgbClr val="2A2622"/>
                </a:solidFill>
                <a:latin typeface="맑은 고딕"/>
                <a:ea typeface="맑은 고딕"/>
                <a:cs typeface="맑은 고딕"/>
              </a:rPr>
              <a:t>기지 정비</a:t>
            </a:r>
          </a:p>
        </p:txBody>
      </p:sp>
      <p:sp>
        <p:nvSpPr>
          <p:cNvPr id="5" name="Step2"/>
          <p:cNvSpPr/>
          <p:nvPr/>
        </p:nvSpPr>
        <p:spPr>
          <a:xfrm>
            <a:off x="2395728" y="1554480"/>
            <a:ext cx="1920240" cy="1143000"/>
          </a:xfrm>
          <a:prstGeom prst="homePlate">
            <a:avLst>
              <a:gd name="adj" fmla="val 28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eaLnBrk="0">
              <a:spcAft>
                <a:spcPts val="0"/>
              </a:spcAft>
            </a:pPr>
            <a:r>
              <a:rPr sz="1400" b="1" i="0">
                <a:solidFill>
                  <a:srgbClr val="C8372D"/>
                </a:solidFill>
                <a:latin typeface="맑은 고딕"/>
                <a:ea typeface="맑은 고딕"/>
                <a:cs typeface="맑은 고딕"/>
              </a:rPr>
              <a:t>2</a:t>
            </a:r>
          </a:p>
          <a:p>
            <a:pPr algn="ctr" eaLnBrk="0">
              <a:spcAft>
                <a:spcPts val="0"/>
              </a:spcAft>
            </a:pPr>
            <a:r>
              <a:rPr sz="1700" b="1" i="0">
                <a:solidFill>
                  <a:srgbClr val="2A2622"/>
                </a:solidFill>
                <a:latin typeface="맑은 고딕"/>
                <a:ea typeface="맑은 고딕"/>
                <a:cs typeface="맑은 고딕"/>
              </a:rPr>
              <a:t>미션 확인</a:t>
            </a:r>
          </a:p>
        </p:txBody>
      </p:sp>
      <p:sp>
        <p:nvSpPr>
          <p:cNvPr id="6" name="Step3"/>
          <p:cNvSpPr/>
          <p:nvPr/>
        </p:nvSpPr>
        <p:spPr>
          <a:xfrm>
            <a:off x="4242816" y="1554480"/>
            <a:ext cx="1920240" cy="1143000"/>
          </a:xfrm>
          <a:prstGeom prst="homePlate">
            <a:avLst>
              <a:gd name="adj" fmla="val 28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eaLnBrk="0">
              <a:spcAft>
                <a:spcPts val="0"/>
              </a:spcAft>
            </a:pPr>
            <a:r>
              <a:rPr sz="1400" b="1" i="0">
                <a:solidFill>
                  <a:srgbClr val="C8372D"/>
                </a:solidFill>
                <a:latin typeface="맑은 고딕"/>
                <a:ea typeface="맑은 고딕"/>
                <a:cs typeface="맑은 고딕"/>
              </a:rPr>
              <a:t>3</a:t>
            </a:r>
          </a:p>
          <a:p>
            <a:pPr algn="ctr" eaLnBrk="0">
              <a:spcAft>
                <a:spcPts val="0"/>
              </a:spcAft>
            </a:pPr>
            <a:r>
              <a:rPr sz="1700" b="1" i="0">
                <a:solidFill>
                  <a:srgbClr val="2A2622"/>
                </a:solidFill>
                <a:latin typeface="맑은 고딕"/>
                <a:ea typeface="맑은 고딕"/>
                <a:cs typeface="맑은 고딕"/>
              </a:rPr>
              <a:t>웨이브 선택</a:t>
            </a:r>
          </a:p>
        </p:txBody>
      </p:sp>
      <p:sp>
        <p:nvSpPr>
          <p:cNvPr id="7" name="Step4"/>
          <p:cNvSpPr/>
          <p:nvPr/>
        </p:nvSpPr>
        <p:spPr>
          <a:xfrm>
            <a:off x="6089904" y="1554480"/>
            <a:ext cx="1920240" cy="1143000"/>
          </a:xfrm>
          <a:prstGeom prst="homePlate">
            <a:avLst>
              <a:gd name="adj" fmla="val 28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eaLnBrk="0">
              <a:spcAft>
                <a:spcPts val="0"/>
              </a:spcAft>
            </a:pPr>
            <a:r>
              <a:rPr sz="1400" b="1" i="0">
                <a:solidFill>
                  <a:srgbClr val="C8372D"/>
                </a:solidFill>
                <a:latin typeface="맑은 고딕"/>
                <a:ea typeface="맑은 고딕"/>
                <a:cs typeface="맑은 고딕"/>
              </a:rPr>
              <a:t>4</a:t>
            </a:r>
          </a:p>
          <a:p>
            <a:pPr algn="ctr" eaLnBrk="0">
              <a:spcAft>
                <a:spcPts val="0"/>
              </a:spcAft>
            </a:pPr>
            <a:r>
              <a:rPr sz="1700" b="1" i="0">
                <a:solidFill>
                  <a:srgbClr val="2A2622"/>
                </a:solidFill>
                <a:latin typeface="맑은 고딕"/>
                <a:ea typeface="맑은 고딕"/>
                <a:cs typeface="맑은 고딕"/>
              </a:rPr>
              <a:t>돌격 경고</a:t>
            </a:r>
          </a:p>
        </p:txBody>
      </p:sp>
      <p:sp>
        <p:nvSpPr>
          <p:cNvPr id="8" name="Step5"/>
          <p:cNvSpPr/>
          <p:nvPr/>
        </p:nvSpPr>
        <p:spPr>
          <a:xfrm>
            <a:off x="7936992" y="1554480"/>
            <a:ext cx="1920240" cy="1143000"/>
          </a:xfrm>
          <a:prstGeom prst="homePlate">
            <a:avLst>
              <a:gd name="adj" fmla="val 28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eaLnBrk="0">
              <a:spcAft>
                <a:spcPts val="0"/>
              </a:spcAft>
            </a:pPr>
            <a:r>
              <a:rPr sz="1400" b="1" i="0">
                <a:solidFill>
                  <a:srgbClr val="C8372D"/>
                </a:solidFill>
                <a:latin typeface="맑은 고딕"/>
                <a:ea typeface="맑은 고딕"/>
                <a:cs typeface="맑은 고딕"/>
              </a:rPr>
              <a:t>5</a:t>
            </a:r>
          </a:p>
          <a:p>
            <a:pPr algn="ctr" eaLnBrk="0">
              <a:spcAft>
                <a:spcPts val="0"/>
              </a:spcAft>
            </a:pPr>
            <a:r>
              <a:rPr sz="1700" b="1" i="0">
                <a:solidFill>
                  <a:srgbClr val="2A2622"/>
                </a:solidFill>
                <a:latin typeface="맑은 고딕"/>
                <a:ea typeface="맑은 고딕"/>
                <a:cs typeface="맑은 고딕"/>
              </a:rPr>
              <a:t>방어벽 방어</a:t>
            </a:r>
          </a:p>
        </p:txBody>
      </p:sp>
      <p:sp>
        <p:nvSpPr>
          <p:cNvPr id="9" name="Step6"/>
          <p:cNvSpPr/>
          <p:nvPr/>
        </p:nvSpPr>
        <p:spPr>
          <a:xfrm>
            <a:off x="9784080" y="1554480"/>
            <a:ext cx="1920240" cy="1143000"/>
          </a:xfrm>
          <a:prstGeom prst="homePlate">
            <a:avLst>
              <a:gd name="adj" fmla="val 28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eaLnBrk="0">
              <a:spcAft>
                <a:spcPts val="0"/>
              </a:spcAft>
            </a:pPr>
            <a:r>
              <a:rPr sz="1400" b="1" i="0">
                <a:solidFill>
                  <a:srgbClr val="C8372D"/>
                </a:solidFill>
                <a:latin typeface="맑은 고딕"/>
                <a:ea typeface="맑은 고딕"/>
                <a:cs typeface="맑은 고딕"/>
              </a:rPr>
              <a:t>6</a:t>
            </a:r>
          </a:p>
          <a:p>
            <a:pPr algn="ctr" eaLnBrk="0">
              <a:spcAft>
                <a:spcPts val="0"/>
              </a:spcAft>
            </a:pPr>
            <a:r>
              <a:rPr sz="1700" b="1" i="0">
                <a:solidFill>
                  <a:srgbClr val="2A2622"/>
                </a:solidFill>
                <a:latin typeface="맑은 고딕"/>
                <a:ea typeface="맑은 고딕"/>
                <a:cs typeface="맑은 고딕"/>
              </a:rPr>
              <a:t>귀환
하루 경과</a:t>
            </a:r>
          </a:p>
        </p:txBody>
      </p:sp>
      <p:sp>
        <p:nvSpPr>
          <p:cNvPr id="10" name="StatCard1"/>
          <p:cNvSpPr/>
          <p:nvPr/>
        </p:nvSpPr>
        <p:spPr>
          <a:xfrm>
            <a:off x="548640" y="3108960"/>
            <a:ext cx="2651760" cy="3017520"/>
          </a:xfrm>
          <a:prstGeom prst="roundRect">
            <a:avLst>
              <a:gd name="adj" fmla="val 5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600"/>
              </a:spcAft>
            </a:pPr>
            <a:r>
              <a:rPr sz="5400" b="1" i="0">
                <a:solidFill>
                  <a:srgbClr val="E5483C"/>
                </a:solidFill>
                <a:latin typeface="맑은 고딕"/>
                <a:ea typeface="맑은 고딕"/>
                <a:cs typeface="맑은 고딕"/>
              </a:rPr>
              <a:t>28일</a:t>
            </a:r>
          </a:p>
          <a:p>
            <a:pPr algn="ctr" eaLnBrk="0">
              <a:spcAft>
                <a:spcPts val="600"/>
              </a:spcAft>
            </a:pPr>
            <a:r>
              <a:rPr sz="1800" b="1" i="0">
                <a:solidFill>
                  <a:srgbClr val="F7F2E7"/>
                </a:solidFill>
                <a:latin typeface="맑은 고딕"/>
                <a:ea typeface="맑은 고딕"/>
                <a:cs typeface="맑은 고딕"/>
              </a:rPr>
              <a:t>런 길이</a:t>
            </a:r>
          </a:p>
          <a:p>
            <a:pPr algn="ctr" eaLnBrk="0">
              <a:spcAft>
                <a:spcPts val="600"/>
              </a:spcAft>
            </a:pPr>
            <a:r>
              <a:rPr sz="1400" b="0" i="0">
                <a:solidFill>
                  <a:srgbClr val="B4AE9F"/>
                </a:solidFill>
                <a:latin typeface="맑은 고딕"/>
                <a:ea typeface="맑은 고딕"/>
                <a:cs typeface="맑은 고딕"/>
              </a:rPr>
              <a:t>29일 아침
로켓으로 지구 귀환</a:t>
            </a:r>
          </a:p>
        </p:txBody>
      </p:sp>
      <p:sp>
        <p:nvSpPr>
          <p:cNvPr id="11" name="StatCard2"/>
          <p:cNvSpPr/>
          <p:nvPr/>
        </p:nvSpPr>
        <p:spPr>
          <a:xfrm>
            <a:off x="3337560" y="3108960"/>
            <a:ext cx="2651760" cy="3017520"/>
          </a:xfrm>
          <a:prstGeom prst="roundRect">
            <a:avLst>
              <a:gd name="adj" fmla="val 5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600"/>
              </a:spcAft>
            </a:pPr>
            <a:r>
              <a:rPr sz="5400" b="1" i="0">
                <a:solidFill>
                  <a:srgbClr val="E5483C"/>
                </a:solidFill>
                <a:latin typeface="맑은 고딕"/>
                <a:ea typeface="맑은 고딕"/>
                <a:cs typeface="맑은 고딕"/>
              </a:rPr>
              <a:t>7일</a:t>
            </a:r>
          </a:p>
          <a:p>
            <a:pPr algn="ctr" eaLnBrk="0">
              <a:spcAft>
                <a:spcPts val="600"/>
              </a:spcAft>
            </a:pPr>
            <a:r>
              <a:rPr sz="1800" b="1" i="0">
                <a:solidFill>
                  <a:srgbClr val="F7F2E7"/>
                </a:solidFill>
                <a:latin typeface="맑은 고딕"/>
                <a:ea typeface="맑은 고딕"/>
                <a:cs typeface="맑은 고딕"/>
              </a:rPr>
              <a:t>미션 마감 주기</a:t>
            </a:r>
          </a:p>
          <a:p>
            <a:pPr algn="ctr" eaLnBrk="0">
              <a:spcAft>
                <a:spcPts val="600"/>
              </a:spcAft>
            </a:pPr>
            <a:r>
              <a:rPr sz="1400" b="0" i="0">
                <a:solidFill>
                  <a:srgbClr val="B4AE9F"/>
                </a:solidFill>
                <a:latin typeface="맑은 고딕"/>
                <a:ea typeface="맑은 고딕"/>
                <a:cs typeface="맑은 고딕"/>
              </a:rPr>
              <a:t>7 · 14 · 21 · 28일, 총 4회</a:t>
            </a:r>
          </a:p>
        </p:txBody>
      </p:sp>
      <p:sp>
        <p:nvSpPr>
          <p:cNvPr id="12" name="StatCard3"/>
          <p:cNvSpPr/>
          <p:nvPr/>
        </p:nvSpPr>
        <p:spPr>
          <a:xfrm>
            <a:off x="6126479" y="3108960"/>
            <a:ext cx="2651760" cy="3017520"/>
          </a:xfrm>
          <a:prstGeom prst="roundRect">
            <a:avLst>
              <a:gd name="adj" fmla="val 5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600"/>
              </a:spcAft>
            </a:pPr>
            <a:r>
              <a:rPr sz="5400" b="1" i="0">
                <a:solidFill>
                  <a:srgbClr val="E5483C"/>
                </a:solidFill>
                <a:latin typeface="맑은 고딕"/>
                <a:ea typeface="맑은 고딕"/>
                <a:cs typeface="맑은 고딕"/>
              </a:rPr>
              <a:t>28번</a:t>
            </a:r>
          </a:p>
          <a:p>
            <a:pPr algn="ctr" eaLnBrk="0">
              <a:spcAft>
                <a:spcPts val="600"/>
              </a:spcAft>
            </a:pPr>
            <a:r>
              <a:rPr sz="1800" b="1" i="0">
                <a:solidFill>
                  <a:srgbClr val="F7F2E7"/>
                </a:solidFill>
                <a:latin typeface="맑은 고딕"/>
                <a:ea typeface="맑은 고딕"/>
                <a:cs typeface="맑은 고딕"/>
              </a:rPr>
              <a:t>웨이브 클리어</a:t>
            </a:r>
          </a:p>
          <a:p>
            <a:pPr algn="ctr" eaLnBrk="0">
              <a:spcAft>
                <a:spcPts val="600"/>
              </a:spcAft>
            </a:pPr>
            <a:r>
              <a:rPr sz="1400" b="0" i="0">
                <a:solidFill>
                  <a:srgbClr val="B4AE9F"/>
                </a:solidFill>
                <a:latin typeface="맑은 고딕"/>
                <a:ea typeface="맑은 고딕"/>
                <a:cs typeface="맑은 고딕"/>
              </a:rPr>
              <a:t>날짜는 전투 복귀로만
흐른다</a:t>
            </a:r>
          </a:p>
        </p:txBody>
      </p:sp>
      <p:sp>
        <p:nvSpPr>
          <p:cNvPr id="13" name="StatCard4"/>
          <p:cNvSpPr/>
          <p:nvPr/>
        </p:nvSpPr>
        <p:spPr>
          <a:xfrm>
            <a:off x="8915399" y="3108960"/>
            <a:ext cx="2651760" cy="3017520"/>
          </a:xfrm>
          <a:prstGeom prst="roundRect">
            <a:avLst>
              <a:gd name="adj" fmla="val 5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600"/>
              </a:spcAft>
            </a:pPr>
            <a:r>
              <a:rPr sz="5400" b="1" i="0">
                <a:solidFill>
                  <a:srgbClr val="E5483C"/>
                </a:solidFill>
                <a:latin typeface="맑은 고딕"/>
                <a:ea typeface="맑은 고딕"/>
                <a:cs typeface="맑은 고딕"/>
              </a:rPr>
              <a:t>즉시</a:t>
            </a:r>
          </a:p>
          <a:p>
            <a:pPr algn="ctr" eaLnBrk="0">
              <a:spcAft>
                <a:spcPts val="600"/>
              </a:spcAft>
            </a:pPr>
            <a:r>
              <a:rPr sz="1800" b="1" i="0">
                <a:solidFill>
                  <a:srgbClr val="F7F2E7"/>
                </a:solidFill>
                <a:latin typeface="맑은 고딕"/>
                <a:ea typeface="맑은 고딕"/>
                <a:cs typeface="맑은 고딕"/>
              </a:rPr>
              <a:t>마감을 넘기면</a:t>
            </a:r>
          </a:p>
          <a:p>
            <a:pPr algn="ctr" eaLnBrk="0">
              <a:spcAft>
                <a:spcPts val="600"/>
              </a:spcAft>
            </a:pPr>
            <a:r>
              <a:rPr sz="1400" b="0" i="0">
                <a:solidFill>
                  <a:srgbClr val="B4AE9F"/>
                </a:solidFill>
                <a:latin typeface="맑은 고딕"/>
                <a:ea typeface="맑은 고딕"/>
                <a:cs typeface="맑은 고딕"/>
              </a:rPr>
              <a:t>게임오버
마감 당일까지는 제출 가능</a:t>
            </a:r>
          </a:p>
        </p:txBody>
      </p:sp>
      <p:sp>
        <p:nvSpPr>
          <p:cNvPr id="14"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15"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4 / 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8961120" cy="822960"/>
          </a:xfrm>
          <a:prstGeom prst="rect">
            <a:avLst/>
          </a:prstGeom>
          <a:noFill/>
        </p:spPr>
        <p:txBody>
          <a:bodyPr wrap="square" lIns="0" tIns="0" rIns="0" bIns="0" anchor="ctr">
            <a:spAutoFit/>
          </a:bodyPr>
          <a:lstStyle/>
          <a:p>
            <a:pPr algn="l" eaLnBrk="0">
              <a:spcAft>
                <a:spcPts val="0"/>
              </a:spcAft>
            </a:pPr>
            <a:r>
              <a:rPr sz="3800" b="1" i="0">
                <a:solidFill>
                  <a:srgbClr val="F7F2E7"/>
                </a:solidFill>
                <a:latin typeface="맑은 고딕"/>
                <a:ea typeface="맑은 고딕"/>
                <a:cs typeface="맑은 고딕"/>
              </a:rPr>
              <a:t>크리스탈 경제와 웨이브</a:t>
            </a:r>
          </a:p>
        </p:txBody>
      </p:sp>
      <p:sp>
        <p:nvSpPr>
          <p:cNvPr id="3" name="Stamp"/>
          <p:cNvSpPr/>
          <p:nvPr/>
        </p:nvSpPr>
        <p:spPr>
          <a:xfrm rot="300000">
            <a:off x="10195560" y="502920"/>
            <a:ext cx="1463040" cy="658368"/>
          </a:xfrm>
          <a:prstGeom prst="rect">
            <a:avLst/>
          </a:prstGeom>
          <a:noFill/>
          <a:ln w="3175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200" b="1" i="0">
                <a:solidFill>
                  <a:srgbClr val="E5483C"/>
                </a:solidFill>
                <a:latin typeface="맑은 고딕"/>
                <a:ea typeface="맑은 고딕"/>
                <a:cs typeface="맑은 고딕"/>
              </a:rPr>
              <a:t>경제</a:t>
            </a:r>
          </a:p>
        </p:txBody>
      </p:sp>
      <p:graphicFrame>
        <p:nvGraphicFramePr>
          <p:cNvPr id="4" name="WaveRewardChart"/>
          <p:cNvGraphicFramePr>
            <a:graphicFrameLocks noGrp="1"/>
          </p:cNvGraphicFramePr>
          <p:nvPr/>
        </p:nvGraphicFramePr>
        <p:xfrm>
          <a:off x="548640" y="1417320"/>
          <a:ext cx="68580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QuotaHead"/>
          <p:cNvSpPr txBox="1"/>
          <p:nvPr/>
        </p:nvSpPr>
        <p:spPr>
          <a:xfrm>
            <a:off x="7818120" y="1417320"/>
            <a:ext cx="3840480" cy="365760"/>
          </a:xfrm>
          <a:prstGeom prst="rect">
            <a:avLst/>
          </a:prstGeom>
          <a:noFill/>
        </p:spPr>
        <p:txBody>
          <a:bodyPr wrap="square" lIns="0" tIns="0" rIns="0" bIns="0" anchor="t">
            <a:spAutoFit/>
          </a:bodyPr>
          <a:lstStyle/>
          <a:p>
            <a:pPr algn="l" eaLnBrk="0">
              <a:spcAft>
                <a:spcPts val="0"/>
              </a:spcAft>
            </a:pPr>
            <a:r>
              <a:rPr sz="1800" b="1" i="0">
                <a:solidFill>
                  <a:srgbClr val="F7F2E7"/>
                </a:solidFill>
                <a:latin typeface="맑은 고딕"/>
                <a:ea typeface="맑은 고딕"/>
                <a:cs typeface="맑은 고딕"/>
              </a:rPr>
              <a:t>미션 상납 요구 금액</a:t>
            </a:r>
          </a:p>
        </p:txBody>
      </p:sp>
      <p:sp>
        <p:nvSpPr>
          <p:cNvPr id="6" name="Quota1"/>
          <p:cNvSpPr/>
          <p:nvPr/>
        </p:nvSpPr>
        <p:spPr>
          <a:xfrm>
            <a:off x="7818120" y="1874519"/>
            <a:ext cx="1874519" cy="868680"/>
          </a:xfrm>
          <a:prstGeom prst="roundRect">
            <a:avLst>
              <a:gd name="adj" fmla="val 8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1300" b="0" i="0">
                <a:solidFill>
                  <a:srgbClr val="B4AE9F"/>
                </a:solidFill>
                <a:latin typeface="맑은 고딕"/>
                <a:ea typeface="맑은 고딕"/>
                <a:cs typeface="맑은 고딕"/>
              </a:rPr>
              <a:t>1주차</a:t>
            </a:r>
          </a:p>
          <a:p>
            <a:pPr algn="ctr" eaLnBrk="0">
              <a:spcAft>
                <a:spcPts val="0"/>
              </a:spcAft>
            </a:pPr>
            <a:r>
              <a:rPr sz="2400" b="1" i="0">
                <a:solidFill>
                  <a:srgbClr val="F7F2E7"/>
                </a:solidFill>
                <a:latin typeface="맑은 고딕"/>
                <a:ea typeface="맑은 고딕"/>
                <a:cs typeface="맑은 고딕"/>
              </a:rPr>
              <a:t>5,000</a:t>
            </a:r>
          </a:p>
        </p:txBody>
      </p:sp>
      <p:sp>
        <p:nvSpPr>
          <p:cNvPr id="7" name="Quota2"/>
          <p:cNvSpPr/>
          <p:nvPr/>
        </p:nvSpPr>
        <p:spPr>
          <a:xfrm>
            <a:off x="9784080" y="1874519"/>
            <a:ext cx="1874519" cy="868680"/>
          </a:xfrm>
          <a:prstGeom prst="roundRect">
            <a:avLst>
              <a:gd name="adj" fmla="val 8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1300" b="0" i="0">
                <a:solidFill>
                  <a:srgbClr val="B4AE9F"/>
                </a:solidFill>
                <a:latin typeface="맑은 고딕"/>
                <a:ea typeface="맑은 고딕"/>
                <a:cs typeface="맑은 고딕"/>
              </a:rPr>
              <a:t>2주차</a:t>
            </a:r>
          </a:p>
          <a:p>
            <a:pPr algn="ctr" eaLnBrk="0">
              <a:spcAft>
                <a:spcPts val="0"/>
              </a:spcAft>
            </a:pPr>
            <a:r>
              <a:rPr sz="2400" b="1" i="0">
                <a:solidFill>
                  <a:srgbClr val="F7F2E7"/>
                </a:solidFill>
                <a:latin typeface="맑은 고딕"/>
                <a:ea typeface="맑은 고딕"/>
                <a:cs typeface="맑은 고딕"/>
              </a:rPr>
              <a:t>8,000</a:t>
            </a:r>
          </a:p>
        </p:txBody>
      </p:sp>
      <p:sp>
        <p:nvSpPr>
          <p:cNvPr id="8" name="Quota3"/>
          <p:cNvSpPr/>
          <p:nvPr/>
        </p:nvSpPr>
        <p:spPr>
          <a:xfrm>
            <a:off x="7818120" y="2834639"/>
            <a:ext cx="1874519" cy="868680"/>
          </a:xfrm>
          <a:prstGeom prst="roundRect">
            <a:avLst>
              <a:gd name="adj" fmla="val 8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1300" b="0" i="0">
                <a:solidFill>
                  <a:srgbClr val="B4AE9F"/>
                </a:solidFill>
                <a:latin typeface="맑은 고딕"/>
                <a:ea typeface="맑은 고딕"/>
                <a:cs typeface="맑은 고딕"/>
              </a:rPr>
              <a:t>3주차</a:t>
            </a:r>
          </a:p>
          <a:p>
            <a:pPr algn="ctr" eaLnBrk="0">
              <a:spcAft>
                <a:spcPts val="0"/>
              </a:spcAft>
            </a:pPr>
            <a:r>
              <a:rPr sz="2400" b="1" i="0">
                <a:solidFill>
                  <a:srgbClr val="F7F2E7"/>
                </a:solidFill>
                <a:latin typeface="맑은 고딕"/>
                <a:ea typeface="맑은 고딕"/>
                <a:cs typeface="맑은 고딕"/>
              </a:rPr>
              <a:t>12,000</a:t>
            </a:r>
          </a:p>
        </p:txBody>
      </p:sp>
      <p:sp>
        <p:nvSpPr>
          <p:cNvPr id="9" name="Quota4"/>
          <p:cNvSpPr/>
          <p:nvPr/>
        </p:nvSpPr>
        <p:spPr>
          <a:xfrm>
            <a:off x="9784080" y="2834639"/>
            <a:ext cx="1874519" cy="868680"/>
          </a:xfrm>
          <a:prstGeom prst="roundRect">
            <a:avLst>
              <a:gd name="adj" fmla="val 8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1300" b="0" i="0">
                <a:solidFill>
                  <a:srgbClr val="B4AE9F"/>
                </a:solidFill>
                <a:latin typeface="맑은 고딕"/>
                <a:ea typeface="맑은 고딕"/>
                <a:cs typeface="맑은 고딕"/>
              </a:rPr>
              <a:t>4주차</a:t>
            </a:r>
          </a:p>
          <a:p>
            <a:pPr algn="ctr" eaLnBrk="0">
              <a:spcAft>
                <a:spcPts val="0"/>
              </a:spcAft>
            </a:pPr>
            <a:r>
              <a:rPr sz="2400" b="1" i="0">
                <a:solidFill>
                  <a:srgbClr val="E5483C"/>
                </a:solidFill>
                <a:latin typeface="맑은 고딕"/>
                <a:ea typeface="맑은 고딕"/>
                <a:cs typeface="맑은 고딕"/>
              </a:rPr>
              <a:t>22,000</a:t>
            </a:r>
          </a:p>
        </p:txBody>
      </p:sp>
      <p:sp>
        <p:nvSpPr>
          <p:cNvPr id="10" name="SystemCard"/>
          <p:cNvSpPr/>
          <p:nvPr/>
        </p:nvSpPr>
        <p:spPr>
          <a:xfrm>
            <a:off x="7818120" y="3931920"/>
            <a:ext cx="3840480" cy="224028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lstStyle/>
          <a:p>
            <a:pPr algn="l" eaLnBrk="0">
              <a:spcAft>
                <a:spcPts val="300"/>
              </a:spcAft>
            </a:pPr>
            <a:r>
              <a:rPr sz="1700" b="1" i="0">
                <a:solidFill>
                  <a:srgbClr val="C8372D"/>
                </a:solidFill>
                <a:latin typeface="맑은 고딕"/>
                <a:ea typeface="맑은 고딕"/>
                <a:cs typeface="맑은 고딕"/>
              </a:rPr>
              <a:t>웨이브 순차 해금</a:t>
            </a:r>
          </a:p>
          <a:p>
            <a:pPr algn="l" eaLnBrk="0">
              <a:spcAft>
                <a:spcPts val="300"/>
              </a:spcAft>
            </a:pPr>
            <a:r>
              <a:rPr sz="1400" b="0" i="0">
                <a:solidFill>
                  <a:srgbClr val="2A2622"/>
                </a:solidFill>
                <a:latin typeface="맑은 고딕"/>
                <a:ea typeface="맑은 고딕"/>
                <a:cs typeface="맑은 고딕"/>
              </a:rPr>
              <a:t>주차 상한 3 · 6 · 9 · 10 안에서
이전 웨이브를 깨야 다음이 열림</a:t>
            </a:r>
          </a:p>
          <a:p>
            <a:pPr algn="l" eaLnBrk="0">
              <a:spcAft>
                <a:spcPts val="300"/>
              </a:spcAft>
            </a:pPr>
            <a:r>
              <a:rPr sz="1700" b="1" i="0">
                <a:solidFill>
                  <a:srgbClr val="C8372D"/>
                </a:solidFill>
                <a:latin typeface="맑은 고딕"/>
                <a:ea typeface="맑은 고딕"/>
                <a:cs typeface="맑은 고딕"/>
              </a:rPr>
              <a:t>방어벽 3등급</a:t>
            </a:r>
          </a:p>
          <a:p>
            <a:pPr algn="l" eaLnBrk="0">
              <a:spcAft>
                <a:spcPts val="300"/>
              </a:spcAft>
            </a:pPr>
            <a:r>
              <a:rPr sz="1400" b="0" i="0">
                <a:solidFill>
                  <a:srgbClr val="2A2622"/>
                </a:solidFill>
                <a:latin typeface="맑은 고딕"/>
                <a:ea typeface="맑은 고딕"/>
                <a:cs typeface="맑은 고딕"/>
              </a:rPr>
              <a:t>설치 500 / 1,000 / 1,500
내구도 400 / 800 / 1,200</a:t>
            </a:r>
          </a:p>
        </p:txBody>
      </p:sp>
      <p:sp>
        <p:nvSpPr>
          <p:cNvPr id="11"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12"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5 / 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8961120" cy="822960"/>
          </a:xfrm>
          <a:prstGeom prst="rect">
            <a:avLst/>
          </a:prstGeom>
          <a:noFill/>
        </p:spPr>
        <p:txBody>
          <a:bodyPr wrap="square" lIns="0" tIns="0" rIns="0" bIns="0" anchor="ctr">
            <a:spAutoFit/>
          </a:bodyPr>
          <a:lstStyle/>
          <a:p>
            <a:pPr algn="l" eaLnBrk="0">
              <a:spcAft>
                <a:spcPts val="0"/>
              </a:spcAft>
            </a:pPr>
            <a:r>
              <a:rPr sz="3800" b="1" i="0">
                <a:solidFill>
                  <a:srgbClr val="F7F2E7"/>
                </a:solidFill>
                <a:latin typeface="맑은 고딕"/>
                <a:ea typeface="맑은 고딕"/>
                <a:cs typeface="맑은 고딕"/>
              </a:rPr>
              <a:t>기술적으로 한 것</a:t>
            </a:r>
          </a:p>
        </p:txBody>
      </p:sp>
      <p:sp>
        <p:nvSpPr>
          <p:cNvPr id="3" name="Stamp"/>
          <p:cNvSpPr/>
          <p:nvPr/>
        </p:nvSpPr>
        <p:spPr>
          <a:xfrm rot="300000">
            <a:off x="10195560" y="502920"/>
            <a:ext cx="1463040" cy="658368"/>
          </a:xfrm>
          <a:prstGeom prst="rect">
            <a:avLst/>
          </a:prstGeom>
          <a:noFill/>
          <a:ln w="3175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200" b="1" i="0">
                <a:solidFill>
                  <a:srgbClr val="E5483C"/>
                </a:solidFill>
                <a:latin typeface="맑은 고딕"/>
                <a:ea typeface="맑은 고딕"/>
                <a:cs typeface="맑은 고딕"/>
              </a:rPr>
              <a:t>기술</a:t>
            </a:r>
          </a:p>
        </p:txBody>
      </p:sp>
      <p:sp>
        <p:nvSpPr>
          <p:cNvPr id="4" name="TechCard1"/>
          <p:cNvSpPr/>
          <p:nvPr/>
        </p:nvSpPr>
        <p:spPr>
          <a:xfrm>
            <a:off x="548640" y="1554480"/>
            <a:ext cx="3566160" cy="224028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chNum1"/>
          <p:cNvSpPr txBox="1"/>
          <p:nvPr/>
        </p:nvSpPr>
        <p:spPr>
          <a:xfrm>
            <a:off x="822959" y="1737360"/>
            <a:ext cx="822960" cy="457200"/>
          </a:xfrm>
          <a:prstGeom prst="rect">
            <a:avLst/>
          </a:prstGeom>
          <a:noFill/>
        </p:spPr>
        <p:txBody>
          <a:bodyPr wrap="square" lIns="0" tIns="0" rIns="0" bIns="0" anchor="t">
            <a:spAutoFit/>
          </a:bodyPr>
          <a:lstStyle/>
          <a:p>
            <a:pPr algn="l" eaLnBrk="0">
              <a:spcAft>
                <a:spcPts val="0"/>
              </a:spcAft>
            </a:pPr>
            <a:r>
              <a:rPr sz="2600" b="1" i="0">
                <a:solidFill>
                  <a:srgbClr val="C8372D"/>
                </a:solidFill>
                <a:latin typeface="맑은 고딕"/>
                <a:ea typeface="맑은 고딕"/>
                <a:cs typeface="맑은 고딕"/>
              </a:rPr>
              <a:t>01</a:t>
            </a:r>
          </a:p>
        </p:txBody>
      </p:sp>
      <p:sp>
        <p:nvSpPr>
          <p:cNvPr id="6" name="TechHead1"/>
          <p:cNvSpPr txBox="1"/>
          <p:nvPr/>
        </p:nvSpPr>
        <p:spPr>
          <a:xfrm>
            <a:off x="1508760" y="1755648"/>
            <a:ext cx="2468880" cy="457200"/>
          </a:xfrm>
          <a:prstGeom prst="rect">
            <a:avLst/>
          </a:prstGeom>
          <a:noFill/>
        </p:spPr>
        <p:txBody>
          <a:bodyPr wrap="square" lIns="0" tIns="0" rIns="0" bIns="0" anchor="ctr">
            <a:spAutoFit/>
          </a:bodyPr>
          <a:lstStyle/>
          <a:p>
            <a:pPr algn="l" eaLnBrk="0">
              <a:spcAft>
                <a:spcPts val="0"/>
              </a:spcAft>
            </a:pPr>
            <a:r>
              <a:rPr sz="2000" b="1" i="0">
                <a:solidFill>
                  <a:srgbClr val="2A2622"/>
                </a:solidFill>
                <a:latin typeface="맑은 고딕"/>
                <a:ea typeface="맑은 고딕"/>
                <a:cs typeface="맑은 고딕"/>
              </a:rPr>
              <a:t>오브젝트 풀링</a:t>
            </a:r>
          </a:p>
        </p:txBody>
      </p:sp>
      <p:sp>
        <p:nvSpPr>
          <p:cNvPr id="7" name="TechBody1"/>
          <p:cNvSpPr txBox="1"/>
          <p:nvPr/>
        </p:nvSpPr>
        <p:spPr>
          <a:xfrm>
            <a:off x="822959" y="2331720"/>
            <a:ext cx="3108960" cy="1371600"/>
          </a:xfrm>
          <a:prstGeom prst="rect">
            <a:avLst/>
          </a:prstGeom>
          <a:noFill/>
        </p:spPr>
        <p:txBody>
          <a:bodyPr wrap="square" lIns="0" tIns="0" rIns="0" bIns="0" anchor="t">
            <a:spAutoFit/>
          </a:bodyPr>
          <a:lstStyle/>
          <a:p>
            <a:pPr algn="l" eaLnBrk="0">
              <a:spcAft>
                <a:spcPts val="0"/>
              </a:spcAft>
            </a:pPr>
            <a:r>
              <a:rPr sz="1500" b="0" i="0">
                <a:solidFill>
                  <a:srgbClr val="2A2622"/>
                </a:solidFill>
                <a:latin typeface="맑은 고딕"/>
                <a:ea typeface="맑은 고딕"/>
                <a:cs typeface="맑은 고딕"/>
              </a:rPr>
              <a:t>투사체와 좀비를 재사용.
타이머와 충돌의 이중 반납은
플래그로 차단.</a:t>
            </a:r>
          </a:p>
        </p:txBody>
      </p:sp>
      <p:sp>
        <p:nvSpPr>
          <p:cNvPr id="8" name="TechCard2"/>
          <p:cNvSpPr/>
          <p:nvPr/>
        </p:nvSpPr>
        <p:spPr>
          <a:xfrm>
            <a:off x="4297679" y="1554480"/>
            <a:ext cx="3566160" cy="224028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chNum2"/>
          <p:cNvSpPr txBox="1"/>
          <p:nvPr/>
        </p:nvSpPr>
        <p:spPr>
          <a:xfrm>
            <a:off x="4571999" y="1737360"/>
            <a:ext cx="822960" cy="457200"/>
          </a:xfrm>
          <a:prstGeom prst="rect">
            <a:avLst/>
          </a:prstGeom>
          <a:noFill/>
        </p:spPr>
        <p:txBody>
          <a:bodyPr wrap="square" lIns="0" tIns="0" rIns="0" bIns="0" anchor="t">
            <a:spAutoFit/>
          </a:bodyPr>
          <a:lstStyle/>
          <a:p>
            <a:pPr algn="l" eaLnBrk="0">
              <a:spcAft>
                <a:spcPts val="0"/>
              </a:spcAft>
            </a:pPr>
            <a:r>
              <a:rPr sz="2600" b="1" i="0">
                <a:solidFill>
                  <a:srgbClr val="C8372D"/>
                </a:solidFill>
                <a:latin typeface="맑은 고딕"/>
                <a:ea typeface="맑은 고딕"/>
                <a:cs typeface="맑은 고딕"/>
              </a:rPr>
              <a:t>02</a:t>
            </a:r>
          </a:p>
        </p:txBody>
      </p:sp>
      <p:sp>
        <p:nvSpPr>
          <p:cNvPr id="10" name="TechHead2"/>
          <p:cNvSpPr txBox="1"/>
          <p:nvPr/>
        </p:nvSpPr>
        <p:spPr>
          <a:xfrm>
            <a:off x="5257799" y="1755648"/>
            <a:ext cx="2468880" cy="457200"/>
          </a:xfrm>
          <a:prstGeom prst="rect">
            <a:avLst/>
          </a:prstGeom>
          <a:noFill/>
        </p:spPr>
        <p:txBody>
          <a:bodyPr wrap="square" lIns="0" tIns="0" rIns="0" bIns="0" anchor="ctr">
            <a:spAutoFit/>
          </a:bodyPr>
          <a:lstStyle/>
          <a:p>
            <a:pPr algn="l" eaLnBrk="0">
              <a:spcAft>
                <a:spcPts val="0"/>
              </a:spcAft>
            </a:pPr>
            <a:r>
              <a:rPr sz="2000" b="1" i="0">
                <a:solidFill>
                  <a:srgbClr val="2A2622"/>
                </a:solidFill>
                <a:latin typeface="맑은 고딕"/>
                <a:ea typeface="맑은 고딕"/>
                <a:cs typeface="맑은 고딕"/>
              </a:rPr>
              <a:t>직접 이동 AI</a:t>
            </a:r>
          </a:p>
        </p:txBody>
      </p:sp>
      <p:sp>
        <p:nvSpPr>
          <p:cNvPr id="11" name="TechBody2"/>
          <p:cNvSpPr txBox="1"/>
          <p:nvPr/>
        </p:nvSpPr>
        <p:spPr>
          <a:xfrm>
            <a:off x="4571999" y="2331720"/>
            <a:ext cx="3108960" cy="1371600"/>
          </a:xfrm>
          <a:prstGeom prst="rect">
            <a:avLst/>
          </a:prstGeom>
          <a:noFill/>
        </p:spPr>
        <p:txBody>
          <a:bodyPr wrap="square" lIns="0" tIns="0" rIns="0" bIns="0" anchor="t">
            <a:spAutoFit/>
          </a:bodyPr>
          <a:lstStyle/>
          <a:p>
            <a:pPr algn="l" eaLnBrk="0">
              <a:spcAft>
                <a:spcPts val="0"/>
              </a:spcAft>
            </a:pPr>
            <a:r>
              <a:rPr sz="1500" b="0" i="0">
                <a:solidFill>
                  <a:srgbClr val="2A2622"/>
                </a:solidFill>
                <a:latin typeface="맑은 고딕"/>
                <a:ea typeface="맑은 고딕"/>
                <a:cs typeface="맑은 고딕"/>
              </a:rPr>
              <a:t>NavMesh 없이 Transform으로
직진, 방어벽은 SphereCast로
감지, 피해는 애니메이션 이벤트.</a:t>
            </a:r>
          </a:p>
        </p:txBody>
      </p:sp>
      <p:sp>
        <p:nvSpPr>
          <p:cNvPr id="12" name="TechCard3"/>
          <p:cNvSpPr/>
          <p:nvPr/>
        </p:nvSpPr>
        <p:spPr>
          <a:xfrm>
            <a:off x="8046719" y="1554480"/>
            <a:ext cx="3566160" cy="224028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chNum3"/>
          <p:cNvSpPr txBox="1"/>
          <p:nvPr/>
        </p:nvSpPr>
        <p:spPr>
          <a:xfrm>
            <a:off x="8321040" y="1737360"/>
            <a:ext cx="822960" cy="457200"/>
          </a:xfrm>
          <a:prstGeom prst="rect">
            <a:avLst/>
          </a:prstGeom>
          <a:noFill/>
        </p:spPr>
        <p:txBody>
          <a:bodyPr wrap="square" lIns="0" tIns="0" rIns="0" bIns="0" anchor="t">
            <a:spAutoFit/>
          </a:bodyPr>
          <a:lstStyle/>
          <a:p>
            <a:pPr algn="l" eaLnBrk="0">
              <a:spcAft>
                <a:spcPts val="0"/>
              </a:spcAft>
            </a:pPr>
            <a:r>
              <a:rPr sz="2600" b="1" i="0">
                <a:solidFill>
                  <a:srgbClr val="C8372D"/>
                </a:solidFill>
                <a:latin typeface="맑은 고딕"/>
                <a:ea typeface="맑은 고딕"/>
                <a:cs typeface="맑은 고딕"/>
              </a:rPr>
              <a:t>03</a:t>
            </a:r>
          </a:p>
        </p:txBody>
      </p:sp>
      <p:sp>
        <p:nvSpPr>
          <p:cNvPr id="14" name="TechHead3"/>
          <p:cNvSpPr txBox="1"/>
          <p:nvPr/>
        </p:nvSpPr>
        <p:spPr>
          <a:xfrm>
            <a:off x="9006840" y="1755648"/>
            <a:ext cx="2468880" cy="457200"/>
          </a:xfrm>
          <a:prstGeom prst="rect">
            <a:avLst/>
          </a:prstGeom>
          <a:noFill/>
        </p:spPr>
        <p:txBody>
          <a:bodyPr wrap="square" lIns="0" tIns="0" rIns="0" bIns="0" anchor="ctr">
            <a:spAutoFit/>
          </a:bodyPr>
          <a:lstStyle/>
          <a:p>
            <a:pPr algn="l" eaLnBrk="0">
              <a:spcAft>
                <a:spcPts val="0"/>
              </a:spcAft>
            </a:pPr>
            <a:r>
              <a:rPr sz="2000" b="1" i="0">
                <a:solidFill>
                  <a:srgbClr val="2A2622"/>
                </a:solidFill>
                <a:latin typeface="맑은 고딕"/>
                <a:ea typeface="맑은 고딕"/>
                <a:cs typeface="맑은 고딕"/>
              </a:rPr>
              <a:t>데이터 주도</a:t>
            </a:r>
          </a:p>
        </p:txBody>
      </p:sp>
      <p:sp>
        <p:nvSpPr>
          <p:cNvPr id="15" name="TechBody3"/>
          <p:cNvSpPr txBox="1"/>
          <p:nvPr/>
        </p:nvSpPr>
        <p:spPr>
          <a:xfrm>
            <a:off x="8321040" y="2331720"/>
            <a:ext cx="3108960" cy="1371600"/>
          </a:xfrm>
          <a:prstGeom prst="rect">
            <a:avLst/>
          </a:prstGeom>
          <a:noFill/>
        </p:spPr>
        <p:txBody>
          <a:bodyPr wrap="square" lIns="0" tIns="0" rIns="0" bIns="0" anchor="t">
            <a:spAutoFit/>
          </a:bodyPr>
          <a:lstStyle/>
          <a:p>
            <a:pPr algn="l" eaLnBrk="0">
              <a:spcAft>
                <a:spcPts val="0"/>
              </a:spcAft>
            </a:pPr>
            <a:r>
              <a:rPr sz="1500" b="0" i="0">
                <a:solidFill>
                  <a:srgbClr val="2A2622"/>
                </a:solidFill>
                <a:latin typeface="맑은 고딕"/>
                <a:ea typeface="맑은 고딕"/>
                <a:cs typeface="맑은 고딕"/>
              </a:rPr>
              <a:t>웨이브 · 무기 · 사운드 ·
튜토리얼 문구를 ScriptableObject로
관리해 코드 수정 없이 조정.</a:t>
            </a:r>
          </a:p>
        </p:txBody>
      </p:sp>
      <p:sp>
        <p:nvSpPr>
          <p:cNvPr id="16" name="TechCard4"/>
          <p:cNvSpPr/>
          <p:nvPr/>
        </p:nvSpPr>
        <p:spPr>
          <a:xfrm>
            <a:off x="548640" y="3977639"/>
            <a:ext cx="3566160" cy="224028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chNum4"/>
          <p:cNvSpPr txBox="1"/>
          <p:nvPr/>
        </p:nvSpPr>
        <p:spPr>
          <a:xfrm>
            <a:off x="822959" y="4160520"/>
            <a:ext cx="822960" cy="457200"/>
          </a:xfrm>
          <a:prstGeom prst="rect">
            <a:avLst/>
          </a:prstGeom>
          <a:noFill/>
        </p:spPr>
        <p:txBody>
          <a:bodyPr wrap="square" lIns="0" tIns="0" rIns="0" bIns="0" anchor="t">
            <a:spAutoFit/>
          </a:bodyPr>
          <a:lstStyle/>
          <a:p>
            <a:pPr algn="l" eaLnBrk="0">
              <a:spcAft>
                <a:spcPts val="0"/>
              </a:spcAft>
            </a:pPr>
            <a:r>
              <a:rPr sz="2600" b="1" i="0">
                <a:solidFill>
                  <a:srgbClr val="C8372D"/>
                </a:solidFill>
                <a:latin typeface="맑은 고딕"/>
                <a:ea typeface="맑은 고딕"/>
                <a:cs typeface="맑은 고딕"/>
              </a:rPr>
              <a:t>04</a:t>
            </a:r>
          </a:p>
        </p:txBody>
      </p:sp>
      <p:sp>
        <p:nvSpPr>
          <p:cNvPr id="18" name="TechHead4"/>
          <p:cNvSpPr txBox="1"/>
          <p:nvPr/>
        </p:nvSpPr>
        <p:spPr>
          <a:xfrm>
            <a:off x="1508760" y="4178807"/>
            <a:ext cx="2468880" cy="457200"/>
          </a:xfrm>
          <a:prstGeom prst="rect">
            <a:avLst/>
          </a:prstGeom>
          <a:noFill/>
        </p:spPr>
        <p:txBody>
          <a:bodyPr wrap="square" lIns="0" tIns="0" rIns="0" bIns="0" anchor="ctr">
            <a:spAutoFit/>
          </a:bodyPr>
          <a:lstStyle/>
          <a:p>
            <a:pPr algn="l" eaLnBrk="0">
              <a:spcAft>
                <a:spcPts val="0"/>
              </a:spcAft>
            </a:pPr>
            <a:r>
              <a:rPr sz="2000" b="1" i="0">
                <a:solidFill>
                  <a:srgbClr val="2A2622"/>
                </a:solidFill>
                <a:latin typeface="맑은 고딕"/>
                <a:ea typeface="맑은 고딕"/>
                <a:cs typeface="맑은 고딕"/>
              </a:rPr>
              <a:t>세이브 3칸</a:t>
            </a:r>
          </a:p>
        </p:txBody>
      </p:sp>
      <p:sp>
        <p:nvSpPr>
          <p:cNvPr id="19" name="TechBody4"/>
          <p:cNvSpPr txBox="1"/>
          <p:nvPr/>
        </p:nvSpPr>
        <p:spPr>
          <a:xfrm>
            <a:off x="822959" y="4754879"/>
            <a:ext cx="3108960" cy="1371600"/>
          </a:xfrm>
          <a:prstGeom prst="rect">
            <a:avLst/>
          </a:prstGeom>
          <a:noFill/>
        </p:spPr>
        <p:txBody>
          <a:bodyPr wrap="square" lIns="0" tIns="0" rIns="0" bIns="0" anchor="t">
            <a:spAutoFit/>
          </a:bodyPr>
          <a:lstStyle/>
          <a:p>
            <a:pPr algn="l" eaLnBrk="0">
              <a:spcAft>
                <a:spcPts val="0"/>
              </a:spcAft>
            </a:pPr>
            <a:r>
              <a:rPr sz="1500" b="0" i="0">
                <a:solidFill>
                  <a:srgbClr val="2A2622"/>
                </a:solidFill>
                <a:latin typeface="맑은 고딕"/>
                <a:ea typeface="맑은 고딕"/>
                <a:cs typeface="맑은 고딕"/>
              </a:rPr>
              <a:t>JSON 저장. 에디터와 빌드의
저장 경로를 #if UNITY_EDITOR로
분리. 전투 복귀 때 자동 저장.</a:t>
            </a:r>
          </a:p>
        </p:txBody>
      </p:sp>
      <p:sp>
        <p:nvSpPr>
          <p:cNvPr id="20" name="TechCard5"/>
          <p:cNvSpPr/>
          <p:nvPr/>
        </p:nvSpPr>
        <p:spPr>
          <a:xfrm>
            <a:off x="4297679" y="3977639"/>
            <a:ext cx="3566160" cy="224028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chNum5"/>
          <p:cNvSpPr txBox="1"/>
          <p:nvPr/>
        </p:nvSpPr>
        <p:spPr>
          <a:xfrm>
            <a:off x="4571999" y="4160520"/>
            <a:ext cx="822960" cy="457200"/>
          </a:xfrm>
          <a:prstGeom prst="rect">
            <a:avLst/>
          </a:prstGeom>
          <a:noFill/>
        </p:spPr>
        <p:txBody>
          <a:bodyPr wrap="square" lIns="0" tIns="0" rIns="0" bIns="0" anchor="t">
            <a:spAutoFit/>
          </a:bodyPr>
          <a:lstStyle/>
          <a:p>
            <a:pPr algn="l" eaLnBrk="0">
              <a:spcAft>
                <a:spcPts val="0"/>
              </a:spcAft>
            </a:pPr>
            <a:r>
              <a:rPr sz="2600" b="1" i="0">
                <a:solidFill>
                  <a:srgbClr val="C8372D"/>
                </a:solidFill>
                <a:latin typeface="맑은 고딕"/>
                <a:ea typeface="맑은 고딕"/>
                <a:cs typeface="맑은 고딕"/>
              </a:rPr>
              <a:t>05</a:t>
            </a:r>
          </a:p>
        </p:txBody>
      </p:sp>
      <p:sp>
        <p:nvSpPr>
          <p:cNvPr id="22" name="TechHead5"/>
          <p:cNvSpPr txBox="1"/>
          <p:nvPr/>
        </p:nvSpPr>
        <p:spPr>
          <a:xfrm>
            <a:off x="5257799" y="4178807"/>
            <a:ext cx="2468880" cy="457200"/>
          </a:xfrm>
          <a:prstGeom prst="rect">
            <a:avLst/>
          </a:prstGeom>
          <a:noFill/>
        </p:spPr>
        <p:txBody>
          <a:bodyPr wrap="square" lIns="0" tIns="0" rIns="0" bIns="0" anchor="ctr">
            <a:spAutoFit/>
          </a:bodyPr>
          <a:lstStyle/>
          <a:p>
            <a:pPr algn="l" eaLnBrk="0">
              <a:spcAft>
                <a:spcPts val="0"/>
              </a:spcAft>
            </a:pPr>
            <a:r>
              <a:rPr sz="2000" b="1" i="0">
                <a:solidFill>
                  <a:srgbClr val="2A2622"/>
                </a:solidFill>
                <a:latin typeface="맑은 고딕"/>
                <a:ea typeface="맑은 고딕"/>
                <a:cs typeface="맑은 고딕"/>
              </a:rPr>
              <a:t>오디오 시스템</a:t>
            </a:r>
          </a:p>
        </p:txBody>
      </p:sp>
      <p:sp>
        <p:nvSpPr>
          <p:cNvPr id="23" name="TechBody5"/>
          <p:cNvSpPr txBox="1"/>
          <p:nvPr/>
        </p:nvSpPr>
        <p:spPr>
          <a:xfrm>
            <a:off x="4571999" y="4754879"/>
            <a:ext cx="3108960" cy="1371600"/>
          </a:xfrm>
          <a:prstGeom prst="rect">
            <a:avLst/>
          </a:prstGeom>
          <a:noFill/>
        </p:spPr>
        <p:txBody>
          <a:bodyPr wrap="square" lIns="0" tIns="0" rIns="0" bIns="0" anchor="t">
            <a:spAutoFit/>
          </a:bodyPr>
          <a:lstStyle/>
          <a:p>
            <a:pPr algn="l" eaLnBrk="0">
              <a:spcAft>
                <a:spcPts val="0"/>
              </a:spcAft>
            </a:pPr>
            <a:r>
              <a:rPr sz="1500" b="0" i="0">
                <a:solidFill>
                  <a:srgbClr val="2A2622"/>
                </a:solidFill>
                <a:latin typeface="맑은 고딕"/>
                <a:ea typeface="맑은 고딕"/>
                <a:cs typeface="맑은 고딕"/>
              </a:rPr>
              <a:t>AudioManager · SoundData ·
믹서 3버스. 효과음 풀 40개,
음악은 씬 전환 크로스페이드.</a:t>
            </a:r>
          </a:p>
        </p:txBody>
      </p:sp>
      <p:sp>
        <p:nvSpPr>
          <p:cNvPr id="24" name="TechCard6"/>
          <p:cNvSpPr/>
          <p:nvPr/>
        </p:nvSpPr>
        <p:spPr>
          <a:xfrm>
            <a:off x="8046719" y="3977639"/>
            <a:ext cx="3566160" cy="2240280"/>
          </a:xfrm>
          <a:prstGeom prst="roundRect">
            <a:avLst>
              <a:gd name="adj" fmla="val 5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chNum6"/>
          <p:cNvSpPr txBox="1"/>
          <p:nvPr/>
        </p:nvSpPr>
        <p:spPr>
          <a:xfrm>
            <a:off x="8321040" y="4160520"/>
            <a:ext cx="822960" cy="457200"/>
          </a:xfrm>
          <a:prstGeom prst="rect">
            <a:avLst/>
          </a:prstGeom>
          <a:noFill/>
        </p:spPr>
        <p:txBody>
          <a:bodyPr wrap="square" lIns="0" tIns="0" rIns="0" bIns="0" anchor="t">
            <a:spAutoFit/>
          </a:bodyPr>
          <a:lstStyle/>
          <a:p>
            <a:pPr algn="l" eaLnBrk="0">
              <a:spcAft>
                <a:spcPts val="0"/>
              </a:spcAft>
            </a:pPr>
            <a:r>
              <a:rPr sz="2600" b="1" i="0">
                <a:solidFill>
                  <a:srgbClr val="C8372D"/>
                </a:solidFill>
                <a:latin typeface="맑은 고딕"/>
                <a:ea typeface="맑은 고딕"/>
                <a:cs typeface="맑은 고딕"/>
              </a:rPr>
              <a:t>06</a:t>
            </a:r>
          </a:p>
        </p:txBody>
      </p:sp>
      <p:sp>
        <p:nvSpPr>
          <p:cNvPr id="26" name="TechHead6"/>
          <p:cNvSpPr txBox="1"/>
          <p:nvPr/>
        </p:nvSpPr>
        <p:spPr>
          <a:xfrm>
            <a:off x="9006840" y="4178807"/>
            <a:ext cx="2468880" cy="457200"/>
          </a:xfrm>
          <a:prstGeom prst="rect">
            <a:avLst/>
          </a:prstGeom>
          <a:noFill/>
        </p:spPr>
        <p:txBody>
          <a:bodyPr wrap="square" lIns="0" tIns="0" rIns="0" bIns="0" anchor="ctr">
            <a:spAutoFit/>
          </a:bodyPr>
          <a:lstStyle/>
          <a:p>
            <a:pPr algn="l" eaLnBrk="0">
              <a:spcAft>
                <a:spcPts val="0"/>
              </a:spcAft>
            </a:pPr>
            <a:r>
              <a:rPr sz="2000" b="1" i="0">
                <a:solidFill>
                  <a:srgbClr val="2A2622"/>
                </a:solidFill>
                <a:latin typeface="맑은 고딕"/>
                <a:ea typeface="맑은 고딕"/>
                <a:cs typeface="맑은 고딕"/>
              </a:rPr>
              <a:t>씬 구조</a:t>
            </a:r>
          </a:p>
        </p:txBody>
      </p:sp>
      <p:sp>
        <p:nvSpPr>
          <p:cNvPr id="27" name="TechBody6"/>
          <p:cNvSpPr txBox="1"/>
          <p:nvPr/>
        </p:nvSpPr>
        <p:spPr>
          <a:xfrm>
            <a:off x="8321040" y="4754879"/>
            <a:ext cx="3108960" cy="1371600"/>
          </a:xfrm>
          <a:prstGeom prst="rect">
            <a:avLst/>
          </a:prstGeom>
          <a:noFill/>
        </p:spPr>
        <p:txBody>
          <a:bodyPr wrap="square" lIns="0" tIns="0" rIns="0" bIns="0" anchor="t">
            <a:spAutoFit/>
          </a:bodyPr>
          <a:lstStyle/>
          <a:p>
            <a:pPr algn="l" eaLnBrk="0">
              <a:spcAft>
                <a:spcPts val="0"/>
              </a:spcAft>
            </a:pPr>
            <a:r>
              <a:rPr sz="1500" b="0" i="0">
                <a:solidFill>
                  <a:srgbClr val="2A2622"/>
                </a:solidFill>
                <a:latin typeface="맑은 고딕"/>
                <a:ea typeface="맑은 고딕"/>
                <a:cs typeface="맑은 고딕"/>
              </a:rPr>
              <a:t>MainMenu · Loading · Base · ZWD.
DontDestroyOnLoad 매니저와
sceneLoaded로 실행 순서 해결.</a:t>
            </a:r>
          </a:p>
        </p:txBody>
      </p:sp>
      <p:sp>
        <p:nvSpPr>
          <p:cNvPr id="28"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29"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6 / 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8961120" cy="822960"/>
          </a:xfrm>
          <a:prstGeom prst="rect">
            <a:avLst/>
          </a:prstGeom>
          <a:noFill/>
        </p:spPr>
        <p:txBody>
          <a:bodyPr wrap="square" lIns="0" tIns="0" rIns="0" bIns="0" anchor="ctr">
            <a:spAutoFit/>
          </a:bodyPr>
          <a:lstStyle/>
          <a:p>
            <a:pPr algn="l" eaLnBrk="0">
              <a:spcAft>
                <a:spcPts val="0"/>
              </a:spcAft>
            </a:pPr>
            <a:r>
              <a:rPr sz="3800" b="1" i="0">
                <a:solidFill>
                  <a:srgbClr val="F7F2E7"/>
                </a:solidFill>
                <a:latin typeface="맑은 고딕"/>
                <a:ea typeface="맑은 고딕"/>
                <a:cs typeface="맑은 고딕"/>
              </a:rPr>
              <a:t>제작 과정</a:t>
            </a:r>
          </a:p>
        </p:txBody>
      </p:sp>
      <p:sp>
        <p:nvSpPr>
          <p:cNvPr id="3" name="Stamp"/>
          <p:cNvSpPr/>
          <p:nvPr/>
        </p:nvSpPr>
        <p:spPr>
          <a:xfrm rot="300000">
            <a:off x="10195560" y="502920"/>
            <a:ext cx="1463040" cy="658368"/>
          </a:xfrm>
          <a:prstGeom prst="rect">
            <a:avLst/>
          </a:prstGeom>
          <a:noFill/>
          <a:ln w="3175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200" b="1" i="0">
                <a:solidFill>
                  <a:srgbClr val="E5483C"/>
                </a:solidFill>
                <a:latin typeface="맑은 고딕"/>
                <a:ea typeface="맑은 고딕"/>
                <a:cs typeface="맑은 고딕"/>
              </a:rPr>
              <a:t>과정</a:t>
            </a:r>
          </a:p>
        </p:txBody>
      </p:sp>
      <p:cxnSp>
        <p:nvCxnSpPr>
          <p:cNvPr id="4" name="TimelineLine"/>
          <p:cNvCxnSpPr/>
          <p:nvPr/>
        </p:nvCxnSpPr>
        <p:spPr>
          <a:xfrm>
            <a:off x="1984248" y="2194560"/>
            <a:ext cx="8229600" cy="0"/>
          </a:xfrm>
          <a:prstGeom prst="line">
            <a:avLst/>
          </a:prstGeom>
          <a:ln w="25400">
            <a:solidFill>
              <a:srgbClr val="B4AE9F"/>
            </a:solidFill>
          </a:ln>
        </p:spPr>
        <p:style>
          <a:lnRef idx="2">
            <a:schemeClr val="accent1"/>
          </a:lnRef>
          <a:fillRef idx="0">
            <a:schemeClr val="accent1"/>
          </a:fillRef>
          <a:effectRef idx="1">
            <a:schemeClr val="accent1"/>
          </a:effectRef>
          <a:fontRef idx="minor">
            <a:schemeClr val="tx1"/>
          </a:fontRef>
        </p:style>
      </p:cxnSp>
      <p:sp>
        <p:nvSpPr>
          <p:cNvPr id="5" name="TimelineNode1"/>
          <p:cNvSpPr/>
          <p:nvPr/>
        </p:nvSpPr>
        <p:spPr>
          <a:xfrm>
            <a:off x="1810512" y="2020824"/>
            <a:ext cx="347472" cy="347472"/>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imelineDate1"/>
          <p:cNvSpPr txBox="1"/>
          <p:nvPr/>
        </p:nvSpPr>
        <p:spPr>
          <a:xfrm>
            <a:off x="704088" y="1463040"/>
            <a:ext cx="2560320" cy="457200"/>
          </a:xfrm>
          <a:prstGeom prst="rect">
            <a:avLst/>
          </a:prstGeom>
          <a:noFill/>
        </p:spPr>
        <p:txBody>
          <a:bodyPr wrap="square" lIns="0" tIns="0" rIns="0" bIns="0" anchor="b">
            <a:spAutoFit/>
          </a:bodyPr>
          <a:lstStyle/>
          <a:p>
            <a:pPr algn="ctr" eaLnBrk="0">
              <a:spcAft>
                <a:spcPts val="0"/>
              </a:spcAft>
            </a:pPr>
            <a:r>
              <a:rPr sz="2800" b="1" i="0">
                <a:solidFill>
                  <a:srgbClr val="E5483C"/>
                </a:solidFill>
                <a:latin typeface="맑은 고딕"/>
                <a:ea typeface="맑은 고딕"/>
                <a:cs typeface="맑은 고딕"/>
              </a:rPr>
              <a:t>8/27</a:t>
            </a:r>
          </a:p>
        </p:txBody>
      </p:sp>
      <p:sp>
        <p:nvSpPr>
          <p:cNvPr id="7" name="PhaseCard1"/>
          <p:cNvSpPr/>
          <p:nvPr/>
        </p:nvSpPr>
        <p:spPr>
          <a:xfrm>
            <a:off x="704088" y="2788920"/>
            <a:ext cx="2560320" cy="2926080"/>
          </a:xfrm>
          <a:prstGeom prst="roundRect">
            <a:avLst>
              <a:gd name="adj" fmla="val 6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1000"/>
              </a:spcAft>
            </a:pPr>
            <a:r>
              <a:rPr sz="2400" b="1" i="0">
                <a:solidFill>
                  <a:srgbClr val="C8372D"/>
                </a:solidFill>
                <a:latin typeface="맑은 고딕"/>
                <a:ea typeface="맑은 고딕"/>
                <a:cs typeface="맑은 고딕"/>
              </a:rPr>
              <a:t>시작</a:t>
            </a:r>
          </a:p>
          <a:p>
            <a:pPr algn="ctr" eaLnBrk="0">
              <a:spcAft>
                <a:spcPts val="1000"/>
              </a:spcAft>
            </a:pPr>
            <a:r>
              <a:rPr sz="1800" b="0" i="0">
                <a:solidFill>
                  <a:srgbClr val="2A2622"/>
                </a:solidFill>
                <a:latin typeface="맑은 고딕"/>
                <a:ea typeface="맑은 고딕"/>
                <a:cs typeface="맑은 고딕"/>
              </a:rPr>
              <a:t>첫 커밋
필수 11단계 완성</a:t>
            </a:r>
          </a:p>
        </p:txBody>
      </p:sp>
      <p:sp>
        <p:nvSpPr>
          <p:cNvPr id="8" name="TimelineNode2"/>
          <p:cNvSpPr/>
          <p:nvPr/>
        </p:nvSpPr>
        <p:spPr>
          <a:xfrm>
            <a:off x="4553712" y="2020824"/>
            <a:ext cx="347472" cy="347472"/>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melineDate2"/>
          <p:cNvSpPr txBox="1"/>
          <p:nvPr/>
        </p:nvSpPr>
        <p:spPr>
          <a:xfrm>
            <a:off x="3447288" y="1463040"/>
            <a:ext cx="2560320" cy="457200"/>
          </a:xfrm>
          <a:prstGeom prst="rect">
            <a:avLst/>
          </a:prstGeom>
          <a:noFill/>
        </p:spPr>
        <p:txBody>
          <a:bodyPr wrap="square" lIns="0" tIns="0" rIns="0" bIns="0" anchor="b">
            <a:spAutoFit/>
          </a:bodyPr>
          <a:lstStyle/>
          <a:p>
            <a:pPr algn="ctr" eaLnBrk="0">
              <a:spcAft>
                <a:spcPts val="0"/>
              </a:spcAft>
            </a:pPr>
            <a:r>
              <a:rPr sz="2800" b="1" i="0">
                <a:solidFill>
                  <a:srgbClr val="E5483C"/>
                </a:solidFill>
                <a:latin typeface="맑은 고딕"/>
                <a:ea typeface="맑은 고딕"/>
                <a:cs typeface="맑은 고딕"/>
              </a:rPr>
              <a:t>9/29</a:t>
            </a:r>
          </a:p>
        </p:txBody>
      </p:sp>
      <p:sp>
        <p:nvSpPr>
          <p:cNvPr id="10" name="PhaseCard2"/>
          <p:cNvSpPr/>
          <p:nvPr/>
        </p:nvSpPr>
        <p:spPr>
          <a:xfrm>
            <a:off x="3447288" y="2788920"/>
            <a:ext cx="2560320" cy="2926080"/>
          </a:xfrm>
          <a:prstGeom prst="roundRect">
            <a:avLst>
              <a:gd name="adj" fmla="val 6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1000"/>
              </a:spcAft>
            </a:pPr>
            <a:r>
              <a:rPr sz="2400" b="1" i="0">
                <a:solidFill>
                  <a:srgbClr val="C8372D"/>
                </a:solidFill>
                <a:latin typeface="맑은 고딕"/>
                <a:ea typeface="맑은 고딕"/>
                <a:cs typeface="맑은 고딕"/>
              </a:rPr>
              <a:t>확정</a:t>
            </a:r>
          </a:p>
          <a:p>
            <a:pPr algn="ctr" eaLnBrk="0">
              <a:spcAft>
                <a:spcPts val="1000"/>
              </a:spcAft>
            </a:pPr>
            <a:r>
              <a:rPr sz="1800" b="0" i="0">
                <a:solidFill>
                  <a:srgbClr val="2A2622"/>
                </a:solidFill>
                <a:latin typeface="맑은 고딕"/>
                <a:ea typeface="맑은 고딕"/>
                <a:cs typeface="맑은 고딕"/>
              </a:rPr>
              <a:t>28일 런
7일 마감
MVP 범위</a:t>
            </a:r>
          </a:p>
        </p:txBody>
      </p:sp>
      <p:sp>
        <p:nvSpPr>
          <p:cNvPr id="11" name="TimelineNode3"/>
          <p:cNvSpPr/>
          <p:nvPr/>
        </p:nvSpPr>
        <p:spPr>
          <a:xfrm>
            <a:off x="7296912" y="2020824"/>
            <a:ext cx="347472" cy="347472"/>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imelineDate3"/>
          <p:cNvSpPr txBox="1"/>
          <p:nvPr/>
        </p:nvSpPr>
        <p:spPr>
          <a:xfrm>
            <a:off x="6190488" y="1463040"/>
            <a:ext cx="2560320" cy="457200"/>
          </a:xfrm>
          <a:prstGeom prst="rect">
            <a:avLst/>
          </a:prstGeom>
          <a:noFill/>
        </p:spPr>
        <p:txBody>
          <a:bodyPr wrap="square" lIns="0" tIns="0" rIns="0" bIns="0" anchor="b">
            <a:spAutoFit/>
          </a:bodyPr>
          <a:lstStyle/>
          <a:p>
            <a:pPr algn="ctr" eaLnBrk="0">
              <a:spcAft>
                <a:spcPts val="0"/>
              </a:spcAft>
            </a:pPr>
            <a:r>
              <a:rPr sz="2800" b="1" i="0">
                <a:solidFill>
                  <a:srgbClr val="E5483C"/>
                </a:solidFill>
                <a:latin typeface="맑은 고딕"/>
                <a:ea typeface="맑은 고딕"/>
                <a:cs typeface="맑은 고딕"/>
              </a:rPr>
              <a:t>10/14</a:t>
            </a:r>
          </a:p>
        </p:txBody>
      </p:sp>
      <p:sp>
        <p:nvSpPr>
          <p:cNvPr id="13" name="PhaseCard3"/>
          <p:cNvSpPr/>
          <p:nvPr/>
        </p:nvSpPr>
        <p:spPr>
          <a:xfrm>
            <a:off x="6190488" y="2788920"/>
            <a:ext cx="2560320" cy="2926080"/>
          </a:xfrm>
          <a:prstGeom prst="roundRect">
            <a:avLst>
              <a:gd name="adj" fmla="val 6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1000"/>
              </a:spcAft>
            </a:pPr>
            <a:r>
              <a:rPr sz="2400" b="1" i="0">
                <a:solidFill>
                  <a:srgbClr val="C8372D"/>
                </a:solidFill>
                <a:latin typeface="맑은 고딕"/>
                <a:ea typeface="맑은 고딕"/>
                <a:cs typeface="맑은 고딕"/>
              </a:rPr>
              <a:t>MVP 완성</a:t>
            </a:r>
          </a:p>
          <a:p>
            <a:pPr algn="ctr" eaLnBrk="0">
              <a:spcAft>
                <a:spcPts val="1000"/>
              </a:spcAft>
            </a:pPr>
            <a:r>
              <a:rPr sz="1800" b="0" i="0">
                <a:solidFill>
                  <a:srgbClr val="2A2622"/>
                </a:solidFill>
                <a:latin typeface="맑은 고딕"/>
                <a:ea typeface="맑은 고딕"/>
                <a:cs typeface="맑은 고딕"/>
              </a:rPr>
              <a:t>웨이브 10개
엔딩
튜토리얼</a:t>
            </a:r>
          </a:p>
        </p:txBody>
      </p:sp>
      <p:sp>
        <p:nvSpPr>
          <p:cNvPr id="14" name="TimelineNode4"/>
          <p:cNvSpPr/>
          <p:nvPr/>
        </p:nvSpPr>
        <p:spPr>
          <a:xfrm>
            <a:off x="10040112" y="2020824"/>
            <a:ext cx="347472" cy="347472"/>
          </a:xfrm>
          <a:prstGeom prst="ellipse">
            <a:avLst/>
          </a:prstGeom>
          <a:solidFill>
            <a:srgbClr val="E54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imelineDate4"/>
          <p:cNvSpPr txBox="1"/>
          <p:nvPr/>
        </p:nvSpPr>
        <p:spPr>
          <a:xfrm>
            <a:off x="8933688" y="1463040"/>
            <a:ext cx="2560320" cy="457200"/>
          </a:xfrm>
          <a:prstGeom prst="rect">
            <a:avLst/>
          </a:prstGeom>
          <a:noFill/>
        </p:spPr>
        <p:txBody>
          <a:bodyPr wrap="square" lIns="0" tIns="0" rIns="0" bIns="0" anchor="b">
            <a:spAutoFit/>
          </a:bodyPr>
          <a:lstStyle/>
          <a:p>
            <a:pPr algn="ctr" eaLnBrk="0">
              <a:spcAft>
                <a:spcPts val="0"/>
              </a:spcAft>
            </a:pPr>
            <a:r>
              <a:rPr sz="2800" b="1" i="0">
                <a:solidFill>
                  <a:srgbClr val="E5483C"/>
                </a:solidFill>
                <a:latin typeface="맑은 고딕"/>
                <a:ea typeface="맑은 고딕"/>
                <a:cs typeface="맑은 고딕"/>
              </a:rPr>
              <a:t>10/15~</a:t>
            </a:r>
          </a:p>
        </p:txBody>
      </p:sp>
      <p:sp>
        <p:nvSpPr>
          <p:cNvPr id="16" name="PhaseCard4"/>
          <p:cNvSpPr/>
          <p:nvPr/>
        </p:nvSpPr>
        <p:spPr>
          <a:xfrm>
            <a:off x="8933688" y="2788920"/>
            <a:ext cx="2560320" cy="2926080"/>
          </a:xfrm>
          <a:prstGeom prst="roundRect">
            <a:avLst>
              <a:gd name="adj" fmla="val 6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eaLnBrk="0">
              <a:spcAft>
                <a:spcPts val="1000"/>
              </a:spcAft>
            </a:pPr>
            <a:r>
              <a:rPr sz="2400" b="1" i="0">
                <a:solidFill>
                  <a:srgbClr val="C8372D"/>
                </a:solidFill>
                <a:latin typeface="맑은 고딕"/>
                <a:ea typeface="맑은 고딕"/>
                <a:cs typeface="맑은 고딕"/>
              </a:rPr>
              <a:t>폴리싱</a:t>
            </a:r>
          </a:p>
          <a:p>
            <a:pPr algn="ctr" eaLnBrk="0">
              <a:spcAft>
                <a:spcPts val="1000"/>
              </a:spcAft>
            </a:pPr>
            <a:r>
              <a:rPr sz="1800" b="0" i="0">
                <a:solidFill>
                  <a:srgbClr val="2A2622"/>
                </a:solidFill>
                <a:latin typeface="맑은 고딕"/>
                <a:ea typeface="맑은 고딕"/>
                <a:cs typeface="맑은 고딕"/>
              </a:rPr>
              <a:t>로우폴리 모델
이펙트 · UI
사운드</a:t>
            </a:r>
          </a:p>
        </p:txBody>
      </p:sp>
      <p:sp>
        <p:nvSpPr>
          <p:cNvPr id="17"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18"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7 / 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Title"/>
          <p:cNvSpPr txBox="1"/>
          <p:nvPr/>
        </p:nvSpPr>
        <p:spPr>
          <a:xfrm>
            <a:off x="548640" y="411480"/>
            <a:ext cx="8961120" cy="822960"/>
          </a:xfrm>
          <a:prstGeom prst="rect">
            <a:avLst/>
          </a:prstGeom>
          <a:noFill/>
        </p:spPr>
        <p:txBody>
          <a:bodyPr wrap="square" lIns="0" tIns="0" rIns="0" bIns="0" anchor="ctr">
            <a:spAutoFit/>
          </a:bodyPr>
          <a:lstStyle/>
          <a:p>
            <a:pPr algn="l" eaLnBrk="0">
              <a:spcAft>
                <a:spcPts val="0"/>
              </a:spcAft>
            </a:pPr>
            <a:r>
              <a:rPr sz="3800" b="1" i="0">
                <a:solidFill>
                  <a:srgbClr val="F7F2E7"/>
                </a:solidFill>
                <a:latin typeface="맑은 고딕"/>
                <a:ea typeface="맑은 고딕"/>
                <a:cs typeface="맑은 고딕"/>
              </a:rPr>
              <a:t>한계와 앞으로</a:t>
            </a:r>
          </a:p>
        </p:txBody>
      </p:sp>
      <p:sp>
        <p:nvSpPr>
          <p:cNvPr id="3" name="Stamp"/>
          <p:cNvSpPr/>
          <p:nvPr/>
        </p:nvSpPr>
        <p:spPr>
          <a:xfrm rot="300000">
            <a:off x="10195560" y="502920"/>
            <a:ext cx="1463040" cy="658368"/>
          </a:xfrm>
          <a:prstGeom prst="rect">
            <a:avLst/>
          </a:prstGeom>
          <a:noFill/>
          <a:ln w="3175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200" b="1" i="0">
                <a:solidFill>
                  <a:srgbClr val="E5483C"/>
                </a:solidFill>
                <a:latin typeface="맑은 고딕"/>
                <a:ea typeface="맑은 고딕"/>
                <a:cs typeface="맑은 고딕"/>
              </a:rPr>
              <a:t>전망</a:t>
            </a:r>
          </a:p>
        </p:txBody>
      </p:sp>
      <p:sp>
        <p:nvSpPr>
          <p:cNvPr id="4" name="LimitPanel"/>
          <p:cNvSpPr/>
          <p:nvPr/>
        </p:nvSpPr>
        <p:spPr>
          <a:xfrm>
            <a:off x="548640" y="1554480"/>
            <a:ext cx="5440680" cy="4572000"/>
          </a:xfrm>
          <a:prstGeom prst="roundRect">
            <a:avLst>
              <a:gd name="adj" fmla="val 4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LimitHead"/>
          <p:cNvSpPr txBox="1"/>
          <p:nvPr/>
        </p:nvSpPr>
        <p:spPr>
          <a:xfrm>
            <a:off x="868680" y="1783080"/>
            <a:ext cx="4846320" cy="457200"/>
          </a:xfrm>
          <a:prstGeom prst="rect">
            <a:avLst/>
          </a:prstGeom>
          <a:noFill/>
        </p:spPr>
        <p:txBody>
          <a:bodyPr wrap="square" lIns="0" tIns="0" rIns="0" bIns="0" anchor="t">
            <a:spAutoFit/>
          </a:bodyPr>
          <a:lstStyle/>
          <a:p>
            <a:pPr algn="l" eaLnBrk="0">
              <a:spcAft>
                <a:spcPts val="0"/>
              </a:spcAft>
            </a:pPr>
            <a:r>
              <a:rPr sz="2400" b="1" i="0">
                <a:solidFill>
                  <a:srgbClr val="E5483C"/>
                </a:solidFill>
                <a:latin typeface="맑은 고딕"/>
                <a:ea typeface="맑은 고딕"/>
                <a:cs typeface="맑은 고딕"/>
              </a:rPr>
              <a:t>한계</a:t>
            </a:r>
          </a:p>
        </p:txBody>
      </p:sp>
      <p:sp>
        <p:nvSpPr>
          <p:cNvPr id="6" name="LimitItem1"/>
          <p:cNvSpPr txBox="1"/>
          <p:nvPr/>
        </p:nvSpPr>
        <p:spPr>
          <a:xfrm>
            <a:off x="868680" y="2286000"/>
            <a:ext cx="4846320" cy="1005840"/>
          </a:xfrm>
          <a:prstGeom prst="rect">
            <a:avLst/>
          </a:prstGeom>
          <a:noFill/>
        </p:spPr>
        <p:txBody>
          <a:bodyPr wrap="square" lIns="0" tIns="0" rIns="0" bIns="0" anchor="t">
            <a:spAutoFit/>
          </a:bodyPr>
          <a:lstStyle/>
          <a:p>
            <a:pPr algn="l" eaLnBrk="0">
              <a:spcAft>
                <a:spcPts val="400"/>
              </a:spcAft>
            </a:pPr>
            <a:r>
              <a:rPr sz="2000" b="1" i="0">
                <a:solidFill>
                  <a:srgbClr val="F7F2E7"/>
                </a:solidFill>
                <a:latin typeface="맑은 고딕"/>
                <a:ea typeface="맑은 고딕"/>
                <a:cs typeface="맑은 고딕"/>
              </a:rPr>
              <a:t>좀비 2종, 보스 없음</a:t>
            </a:r>
          </a:p>
          <a:p>
            <a:pPr algn="l" eaLnBrk="0">
              <a:spcAft>
                <a:spcPts val="400"/>
              </a:spcAft>
            </a:pPr>
            <a:r>
              <a:rPr sz="1500" b="0" i="0">
                <a:solidFill>
                  <a:srgbClr val="B4AE9F"/>
                </a:solidFill>
                <a:latin typeface="맑은 고딕"/>
                <a:ea typeface="맑은 고딕"/>
                <a:cs typeface="맑은 고딕"/>
              </a:rPr>
              <a:t>일반 · 헤비 두 종류로 웨이브 10개를 구성</a:t>
            </a:r>
          </a:p>
        </p:txBody>
      </p:sp>
      <p:sp>
        <p:nvSpPr>
          <p:cNvPr id="7" name="LimitItem2"/>
          <p:cNvSpPr txBox="1"/>
          <p:nvPr/>
        </p:nvSpPr>
        <p:spPr>
          <a:xfrm>
            <a:off x="868680" y="3474720"/>
            <a:ext cx="4846320" cy="1005840"/>
          </a:xfrm>
          <a:prstGeom prst="rect">
            <a:avLst/>
          </a:prstGeom>
          <a:noFill/>
        </p:spPr>
        <p:txBody>
          <a:bodyPr wrap="square" lIns="0" tIns="0" rIns="0" bIns="0" anchor="t">
            <a:spAutoFit/>
          </a:bodyPr>
          <a:lstStyle/>
          <a:p>
            <a:pPr algn="l" eaLnBrk="0">
              <a:spcAft>
                <a:spcPts val="400"/>
              </a:spcAft>
            </a:pPr>
            <a:r>
              <a:rPr sz="2000" b="1" i="0">
                <a:solidFill>
                  <a:srgbClr val="F7F2E7"/>
                </a:solidFill>
                <a:latin typeface="맑은 고딕"/>
                <a:ea typeface="맑은 고딕"/>
                <a:cs typeface="맑은 고딕"/>
              </a:rPr>
              <a:t>맵 확장 보류</a:t>
            </a:r>
          </a:p>
          <a:p>
            <a:pPr algn="l" eaLnBrk="0">
              <a:spcAft>
                <a:spcPts val="400"/>
              </a:spcAft>
            </a:pPr>
            <a:r>
              <a:rPr sz="1500" b="0" i="0">
                <a:solidFill>
                  <a:srgbClr val="B4AE9F"/>
                </a:solidFill>
                <a:latin typeface="맑은 고딕"/>
                <a:ea typeface="맑은 고딕"/>
                <a:cs typeface="맑은 고딕"/>
              </a:rPr>
              <a:t>웨이브 8~10은 맵 확장 뒤 재보정 필요</a:t>
            </a:r>
          </a:p>
        </p:txBody>
      </p:sp>
      <p:sp>
        <p:nvSpPr>
          <p:cNvPr id="8" name="LimitItem3"/>
          <p:cNvSpPr txBox="1"/>
          <p:nvPr/>
        </p:nvSpPr>
        <p:spPr>
          <a:xfrm>
            <a:off x="868680" y="4663440"/>
            <a:ext cx="4846320" cy="1005840"/>
          </a:xfrm>
          <a:prstGeom prst="rect">
            <a:avLst/>
          </a:prstGeom>
          <a:noFill/>
        </p:spPr>
        <p:txBody>
          <a:bodyPr wrap="square" lIns="0" tIns="0" rIns="0" bIns="0" anchor="t">
            <a:spAutoFit/>
          </a:bodyPr>
          <a:lstStyle/>
          <a:p>
            <a:pPr algn="l" eaLnBrk="0">
              <a:spcAft>
                <a:spcPts val="400"/>
              </a:spcAft>
            </a:pPr>
            <a:r>
              <a:rPr sz="2000" b="1" i="0">
                <a:solidFill>
                  <a:srgbClr val="F7F2E7"/>
                </a:solidFill>
                <a:latin typeface="맑은 고딕"/>
                <a:ea typeface="맑은 고딕"/>
                <a:cs typeface="맑은 고딕"/>
              </a:rPr>
              <a:t>유산 기록 미구현</a:t>
            </a:r>
          </a:p>
          <a:p>
            <a:pPr algn="l" eaLnBrk="0">
              <a:spcAft>
                <a:spcPts val="400"/>
              </a:spcAft>
            </a:pPr>
            <a:r>
              <a:rPr sz="1500" b="0" i="0">
                <a:solidFill>
                  <a:srgbClr val="B4AE9F"/>
                </a:solidFill>
                <a:latin typeface="맑은 고딕"/>
                <a:ea typeface="맑은 고딕"/>
                <a:cs typeface="맑은 고딕"/>
              </a:rPr>
              <a:t>지원 동기 기반 기록은 설계만 존재</a:t>
            </a:r>
          </a:p>
        </p:txBody>
      </p:sp>
      <p:sp>
        <p:nvSpPr>
          <p:cNvPr id="9" name="NextPanel"/>
          <p:cNvSpPr/>
          <p:nvPr/>
        </p:nvSpPr>
        <p:spPr>
          <a:xfrm>
            <a:off x="6199632" y="1554480"/>
            <a:ext cx="5440680" cy="4572000"/>
          </a:xfrm>
          <a:prstGeom prst="roundRect">
            <a:avLst>
              <a:gd name="adj" fmla="val 4000"/>
            </a:avLst>
          </a:prstGeom>
          <a:solidFill>
            <a:srgbClr val="EF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NextHead"/>
          <p:cNvSpPr txBox="1"/>
          <p:nvPr/>
        </p:nvSpPr>
        <p:spPr>
          <a:xfrm>
            <a:off x="6519672" y="1783080"/>
            <a:ext cx="4846320" cy="457200"/>
          </a:xfrm>
          <a:prstGeom prst="rect">
            <a:avLst/>
          </a:prstGeom>
          <a:noFill/>
        </p:spPr>
        <p:txBody>
          <a:bodyPr wrap="square" lIns="0" tIns="0" rIns="0" bIns="0" anchor="t">
            <a:spAutoFit/>
          </a:bodyPr>
          <a:lstStyle/>
          <a:p>
            <a:pPr algn="l" eaLnBrk="0">
              <a:spcAft>
                <a:spcPts val="0"/>
              </a:spcAft>
            </a:pPr>
            <a:r>
              <a:rPr sz="2400" b="1" i="0">
                <a:solidFill>
                  <a:srgbClr val="C8372D"/>
                </a:solidFill>
                <a:latin typeface="맑은 고딕"/>
                <a:ea typeface="맑은 고딕"/>
                <a:cs typeface="맑은 고딕"/>
              </a:rPr>
              <a:t>앞으로</a:t>
            </a:r>
          </a:p>
        </p:txBody>
      </p:sp>
      <p:sp>
        <p:nvSpPr>
          <p:cNvPr id="11" name="NextItem1"/>
          <p:cNvSpPr txBox="1"/>
          <p:nvPr/>
        </p:nvSpPr>
        <p:spPr>
          <a:xfrm>
            <a:off x="6519672" y="2468880"/>
            <a:ext cx="4846320" cy="1097280"/>
          </a:xfrm>
          <a:prstGeom prst="rect">
            <a:avLst/>
          </a:prstGeom>
          <a:noFill/>
        </p:spPr>
        <p:txBody>
          <a:bodyPr wrap="square" lIns="0" tIns="0" rIns="0" bIns="0" anchor="t">
            <a:spAutoFit/>
          </a:bodyPr>
          <a:lstStyle/>
          <a:p>
            <a:pPr algn="l" eaLnBrk="0">
              <a:spcAft>
                <a:spcPts val="400"/>
              </a:spcAft>
            </a:pPr>
            <a:r>
              <a:rPr sz="2000" b="1" i="0">
                <a:solidFill>
                  <a:srgbClr val="2A2622"/>
                </a:solidFill>
                <a:latin typeface="맑은 고딕"/>
                <a:ea typeface="맑은 고딕"/>
                <a:cs typeface="맑은 고딕"/>
              </a:rPr>
              <a:t>베타 테스트</a:t>
            </a:r>
          </a:p>
          <a:p>
            <a:pPr algn="l" eaLnBrk="0">
              <a:spcAft>
                <a:spcPts val="400"/>
              </a:spcAft>
            </a:pPr>
            <a:r>
              <a:rPr sz="1500" b="0" i="0">
                <a:solidFill>
                  <a:srgbClr val="2A2622"/>
                </a:solidFill>
                <a:latin typeface="맑은 고딕"/>
                <a:ea typeface="맑은 고딕"/>
                <a:cs typeface="맑은 고딕"/>
              </a:rPr>
              <a:t>플레이 피드백으로 밸런스 보정</a:t>
            </a:r>
          </a:p>
        </p:txBody>
      </p:sp>
      <p:sp>
        <p:nvSpPr>
          <p:cNvPr id="12" name="NextItem2"/>
          <p:cNvSpPr txBox="1"/>
          <p:nvPr/>
        </p:nvSpPr>
        <p:spPr>
          <a:xfrm>
            <a:off x="6519672" y="4023360"/>
            <a:ext cx="4846320" cy="1097280"/>
          </a:xfrm>
          <a:prstGeom prst="rect">
            <a:avLst/>
          </a:prstGeom>
          <a:noFill/>
        </p:spPr>
        <p:txBody>
          <a:bodyPr wrap="square" lIns="0" tIns="0" rIns="0" bIns="0" anchor="t">
            <a:spAutoFit/>
          </a:bodyPr>
          <a:lstStyle/>
          <a:p>
            <a:pPr algn="l" eaLnBrk="0">
              <a:spcAft>
                <a:spcPts val="400"/>
              </a:spcAft>
            </a:pPr>
            <a:r>
              <a:rPr sz="2000" b="1" i="0">
                <a:solidFill>
                  <a:srgbClr val="2A2622"/>
                </a:solidFill>
                <a:latin typeface="맑은 고딕"/>
                <a:ea typeface="맑은 고딕"/>
                <a:cs typeface="맑은 고딕"/>
              </a:rPr>
              <a:t>파밍형 슈터 전환 검토</a:t>
            </a:r>
          </a:p>
          <a:p>
            <a:pPr algn="l" eaLnBrk="0">
              <a:spcAft>
                <a:spcPts val="400"/>
              </a:spcAft>
            </a:pPr>
            <a:r>
              <a:rPr sz="1500" b="0" i="0">
                <a:solidFill>
                  <a:srgbClr val="2A2622"/>
                </a:solidFill>
                <a:latin typeface="맑은 고딕"/>
                <a:ea typeface="맑은 고딕"/>
                <a:cs typeface="맑은 고딕"/>
              </a:rPr>
              <a:t>시원한 처치 + 파밍 + 익스트랙션 요소
구역 = 지하 층, 웨이브 코드만 교체
(재사용 약 60~70%)</a:t>
            </a:r>
          </a:p>
        </p:txBody>
      </p:sp>
      <p:sp>
        <p:nvSpPr>
          <p:cNvPr id="13"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14"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8 / 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1D1B"/>
        </a:solidFill>
        <a:effectLst/>
      </p:bgPr>
    </p:bg>
    <p:spTree>
      <p:nvGrpSpPr>
        <p:cNvPr id="1" name=""/>
        <p:cNvGrpSpPr/>
        <p:nvPr/>
      </p:nvGrpSpPr>
      <p:grpSpPr>
        <a:xfrm>
          <a:off x="0" y="0"/>
          <a:ext cx="0" cy="0"/>
          <a:chOff x="0" y="0"/>
          <a:chExt cx="0" cy="0"/>
        </a:xfrm>
      </p:grpSpPr>
      <p:sp>
        <p:nvSpPr>
          <p:cNvPr id="2" name="ClosingTitle"/>
          <p:cNvSpPr txBox="1"/>
          <p:nvPr/>
        </p:nvSpPr>
        <p:spPr>
          <a:xfrm>
            <a:off x="731520" y="1554480"/>
            <a:ext cx="10515600" cy="1097280"/>
          </a:xfrm>
          <a:prstGeom prst="rect">
            <a:avLst/>
          </a:prstGeom>
          <a:noFill/>
        </p:spPr>
        <p:txBody>
          <a:bodyPr wrap="square" lIns="0" tIns="0" rIns="0" bIns="0" anchor="t">
            <a:spAutoFit/>
          </a:bodyPr>
          <a:lstStyle/>
          <a:p>
            <a:pPr algn="l" eaLnBrk="0">
              <a:spcAft>
                <a:spcPts val="0"/>
              </a:spcAft>
            </a:pPr>
            <a:r>
              <a:rPr sz="5400" b="1" i="0">
                <a:solidFill>
                  <a:srgbClr val="F7F2E7"/>
                </a:solidFill>
                <a:latin typeface="맑은 고딕"/>
                <a:ea typeface="맑은 고딕"/>
                <a:cs typeface="맑은 고딕"/>
              </a:rPr>
              <a:t>Regardless of Reason</a:t>
            </a:r>
          </a:p>
        </p:txBody>
      </p:sp>
      <p:sp>
        <p:nvSpPr>
          <p:cNvPr id="3" name="ClosingSub"/>
          <p:cNvSpPr txBox="1"/>
          <p:nvPr/>
        </p:nvSpPr>
        <p:spPr>
          <a:xfrm>
            <a:off x="731520" y="2606040"/>
            <a:ext cx="10515600" cy="822960"/>
          </a:xfrm>
          <a:prstGeom prst="rect">
            <a:avLst/>
          </a:prstGeom>
          <a:noFill/>
        </p:spPr>
        <p:txBody>
          <a:bodyPr wrap="square" lIns="0" tIns="0" rIns="0" bIns="0" anchor="t">
            <a:spAutoFit/>
          </a:bodyPr>
          <a:lstStyle/>
          <a:p>
            <a:pPr algn="l" eaLnBrk="0">
              <a:spcAft>
                <a:spcPts val="0"/>
              </a:spcAft>
            </a:pPr>
            <a:r>
              <a:rPr sz="4000" b="1" i="0">
                <a:solidFill>
                  <a:srgbClr val="E5483C"/>
                </a:solidFill>
                <a:latin typeface="맑은 고딕"/>
                <a:ea typeface="맑은 고딕"/>
                <a:cs typeface="맑은 고딕"/>
              </a:rPr>
              <a:t>사유 불문</a:t>
            </a:r>
          </a:p>
        </p:txBody>
      </p:sp>
      <p:sp>
        <p:nvSpPr>
          <p:cNvPr id="4" name="RecapCard1"/>
          <p:cNvSpPr/>
          <p:nvPr/>
        </p:nvSpPr>
        <p:spPr>
          <a:xfrm>
            <a:off x="731520" y="3657600"/>
            <a:ext cx="3383280" cy="1463040"/>
          </a:xfrm>
          <a:prstGeom prst="roundRect">
            <a:avLst>
              <a:gd name="adj" fmla="val 5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2296" rIns="137160" bIns="82296" rtlCol="0" anchor="ctr"/>
          <a:lstStyle/>
          <a:p>
            <a:pPr algn="ctr" eaLnBrk="0">
              <a:spcAft>
                <a:spcPts val="200"/>
              </a:spcAft>
            </a:pPr>
            <a:r>
              <a:rPr sz="4000" b="1" i="0">
                <a:solidFill>
                  <a:srgbClr val="F7F2E7"/>
                </a:solidFill>
                <a:latin typeface="맑은 고딕"/>
                <a:ea typeface="맑은 고딕"/>
                <a:cs typeface="맑은 고딕"/>
              </a:rPr>
              <a:t>28일</a:t>
            </a:r>
          </a:p>
          <a:p>
            <a:pPr algn="ctr" eaLnBrk="0">
              <a:spcAft>
                <a:spcPts val="200"/>
              </a:spcAft>
            </a:pPr>
            <a:r>
              <a:rPr sz="1700" b="0" i="0">
                <a:solidFill>
                  <a:srgbClr val="B4AE9F"/>
                </a:solidFill>
                <a:latin typeface="맑은 고딕"/>
                <a:ea typeface="맑은 고딕"/>
                <a:cs typeface="맑은 고딕"/>
              </a:rPr>
              <a:t>버티는 런</a:t>
            </a:r>
          </a:p>
        </p:txBody>
      </p:sp>
      <p:sp>
        <p:nvSpPr>
          <p:cNvPr id="5" name="RecapCard2"/>
          <p:cNvSpPr/>
          <p:nvPr/>
        </p:nvSpPr>
        <p:spPr>
          <a:xfrm>
            <a:off x="4343400" y="3657600"/>
            <a:ext cx="3383280" cy="1463040"/>
          </a:xfrm>
          <a:prstGeom prst="roundRect">
            <a:avLst>
              <a:gd name="adj" fmla="val 5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2296" rIns="137160" bIns="82296" rtlCol="0" anchor="ctr"/>
          <a:lstStyle/>
          <a:p>
            <a:pPr algn="ctr" eaLnBrk="0">
              <a:spcAft>
                <a:spcPts val="200"/>
              </a:spcAft>
            </a:pPr>
            <a:r>
              <a:rPr sz="4000" b="1" i="0">
                <a:solidFill>
                  <a:srgbClr val="F7F2E7"/>
                </a:solidFill>
                <a:latin typeface="맑은 고딕"/>
                <a:ea typeface="맑은 고딕"/>
                <a:cs typeface="맑은 고딕"/>
              </a:rPr>
              <a:t>10개</a:t>
            </a:r>
          </a:p>
          <a:p>
            <a:pPr algn="ctr" eaLnBrk="0">
              <a:spcAft>
                <a:spcPts val="200"/>
              </a:spcAft>
            </a:pPr>
            <a:r>
              <a:rPr sz="1700" b="0" i="0">
                <a:solidFill>
                  <a:srgbClr val="B4AE9F"/>
                </a:solidFill>
                <a:latin typeface="맑은 고딕"/>
                <a:ea typeface="맑은 고딕"/>
                <a:cs typeface="맑은 고딕"/>
              </a:rPr>
              <a:t>웨이브</a:t>
            </a:r>
          </a:p>
        </p:txBody>
      </p:sp>
      <p:sp>
        <p:nvSpPr>
          <p:cNvPr id="6" name="RecapCard3"/>
          <p:cNvSpPr/>
          <p:nvPr/>
        </p:nvSpPr>
        <p:spPr>
          <a:xfrm>
            <a:off x="7955280" y="3657600"/>
            <a:ext cx="3383280" cy="1463040"/>
          </a:xfrm>
          <a:prstGeom prst="roundRect">
            <a:avLst>
              <a:gd name="adj" fmla="val 5000"/>
            </a:avLst>
          </a:prstGeom>
          <a:solidFill>
            <a:srgbClr val="2B292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2296" rIns="137160" bIns="82296" rtlCol="0" anchor="ctr"/>
          <a:lstStyle/>
          <a:p>
            <a:pPr algn="ctr" eaLnBrk="0">
              <a:spcAft>
                <a:spcPts val="200"/>
              </a:spcAft>
            </a:pPr>
            <a:r>
              <a:rPr lang="en-US" altLang="ko-KR" sz="4000" b="1" dirty="0">
                <a:solidFill>
                  <a:srgbClr val="F7F2E7"/>
                </a:solidFill>
                <a:latin typeface="맑은 고딕"/>
                <a:ea typeface="맑은 고딕"/>
                <a:cs typeface="맑은 고딕"/>
              </a:rPr>
              <a:t>4</a:t>
            </a:r>
            <a:r>
              <a:rPr lang="ko-KR" altLang="en-US" sz="4000" b="1" dirty="0">
                <a:solidFill>
                  <a:srgbClr val="F7F2E7"/>
                </a:solidFill>
                <a:latin typeface="맑은 고딕"/>
                <a:ea typeface="맑은 고딕"/>
                <a:cs typeface="맑은 고딕"/>
              </a:rPr>
              <a:t>개</a:t>
            </a:r>
            <a:endParaRPr sz="4000" b="1" i="0" dirty="0">
              <a:solidFill>
                <a:srgbClr val="F7F2E7"/>
              </a:solidFill>
              <a:latin typeface="맑은 고딕"/>
              <a:ea typeface="맑은 고딕"/>
              <a:cs typeface="맑은 고딕"/>
            </a:endParaRPr>
          </a:p>
          <a:p>
            <a:pPr algn="ctr" eaLnBrk="0">
              <a:spcAft>
                <a:spcPts val="200"/>
              </a:spcAft>
            </a:pPr>
            <a:r>
              <a:rPr lang="ko-KR" altLang="en-US" sz="1700" dirty="0" err="1">
                <a:solidFill>
                  <a:srgbClr val="B4AE9F"/>
                </a:solidFill>
                <a:latin typeface="맑은 고딕"/>
                <a:ea typeface="맑은 고딕"/>
                <a:cs typeface="맑은 고딕"/>
              </a:rPr>
              <a:t>메인미션</a:t>
            </a:r>
            <a:endParaRPr sz="1700" b="0" i="0" dirty="0">
              <a:solidFill>
                <a:srgbClr val="B4AE9F"/>
              </a:solidFill>
              <a:latin typeface="맑은 고딕"/>
              <a:ea typeface="맑은 고딕"/>
              <a:cs typeface="맑은 고딕"/>
            </a:endParaRPr>
          </a:p>
        </p:txBody>
      </p:sp>
      <p:sp>
        <p:nvSpPr>
          <p:cNvPr id="7" name="ThankYou"/>
          <p:cNvSpPr txBox="1"/>
          <p:nvPr/>
        </p:nvSpPr>
        <p:spPr>
          <a:xfrm>
            <a:off x="731520" y="5669280"/>
            <a:ext cx="7315200" cy="548640"/>
          </a:xfrm>
          <a:prstGeom prst="rect">
            <a:avLst/>
          </a:prstGeom>
          <a:noFill/>
        </p:spPr>
        <p:txBody>
          <a:bodyPr wrap="square" lIns="0" tIns="0" rIns="0" bIns="0" anchor="t">
            <a:spAutoFit/>
          </a:bodyPr>
          <a:lstStyle/>
          <a:p>
            <a:pPr algn="l" eaLnBrk="0">
              <a:spcAft>
                <a:spcPts val="0"/>
              </a:spcAft>
            </a:pPr>
            <a:r>
              <a:rPr sz="2200" b="1" i="0">
                <a:solidFill>
                  <a:srgbClr val="EFE6D2"/>
                </a:solidFill>
                <a:latin typeface="맑은 고딕"/>
                <a:ea typeface="맑은 고딕"/>
                <a:cs typeface="맑은 고딕"/>
              </a:rPr>
              <a:t>감사합니다 · Q&amp;A</a:t>
            </a:r>
          </a:p>
        </p:txBody>
      </p:sp>
      <p:sp>
        <p:nvSpPr>
          <p:cNvPr id="8" name="Stamp"/>
          <p:cNvSpPr/>
          <p:nvPr/>
        </p:nvSpPr>
        <p:spPr>
          <a:xfrm rot="21240000">
            <a:off x="9966960" y="5440680"/>
            <a:ext cx="1554480" cy="713232"/>
          </a:xfrm>
          <a:prstGeom prst="rect">
            <a:avLst/>
          </a:prstGeom>
          <a:noFill/>
          <a:ln w="38100">
            <a:solidFill>
              <a:srgbClr val="E5483C"/>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eaLnBrk="0">
              <a:spcAft>
                <a:spcPts val="0"/>
              </a:spcAft>
            </a:pPr>
            <a:r>
              <a:rPr sz="2600" b="1" i="0">
                <a:solidFill>
                  <a:srgbClr val="E5483C"/>
                </a:solidFill>
                <a:latin typeface="맑은 고딕"/>
                <a:ea typeface="맑은 고딕"/>
                <a:cs typeface="맑은 고딕"/>
              </a:rPr>
              <a:t>접 수</a:t>
            </a:r>
          </a:p>
        </p:txBody>
      </p:sp>
      <p:sp>
        <p:nvSpPr>
          <p:cNvPr id="9" name="FooterLeft"/>
          <p:cNvSpPr txBox="1"/>
          <p:nvPr/>
        </p:nvSpPr>
        <p:spPr>
          <a:xfrm>
            <a:off x="548640" y="6400800"/>
            <a:ext cx="5486400" cy="274320"/>
          </a:xfrm>
          <a:prstGeom prst="rect">
            <a:avLst/>
          </a:prstGeom>
          <a:noFill/>
        </p:spPr>
        <p:txBody>
          <a:bodyPr wrap="square" lIns="0" tIns="0" rIns="0" bIns="0" anchor="t">
            <a:spAutoFit/>
          </a:bodyPr>
          <a:lstStyle/>
          <a:p>
            <a:pPr algn="l" eaLnBrk="0">
              <a:spcAft>
                <a:spcPts val="0"/>
              </a:spcAft>
            </a:pPr>
            <a:r>
              <a:rPr sz="1100" b="0" i="0">
                <a:solidFill>
                  <a:srgbClr val="B4AE9F"/>
                </a:solidFill>
                <a:latin typeface="맑은 고딕"/>
                <a:ea typeface="맑은 고딕"/>
                <a:cs typeface="맑은 고딕"/>
              </a:rPr>
              <a:t>REGARDLESS OF REASON · 사유 불문</a:t>
            </a:r>
          </a:p>
        </p:txBody>
      </p:sp>
      <p:sp>
        <p:nvSpPr>
          <p:cNvPr id="10" name="PageNumber"/>
          <p:cNvSpPr txBox="1"/>
          <p:nvPr/>
        </p:nvSpPr>
        <p:spPr>
          <a:xfrm>
            <a:off x="10698480" y="6400800"/>
            <a:ext cx="941832" cy="274320"/>
          </a:xfrm>
          <a:prstGeom prst="rect">
            <a:avLst/>
          </a:prstGeom>
          <a:noFill/>
        </p:spPr>
        <p:txBody>
          <a:bodyPr wrap="square" lIns="0" tIns="0" rIns="0" bIns="0" anchor="t">
            <a:spAutoFit/>
          </a:bodyPr>
          <a:lstStyle/>
          <a:p>
            <a:pPr algn="r" eaLnBrk="0">
              <a:spcAft>
                <a:spcPts val="0"/>
              </a:spcAft>
            </a:pPr>
            <a:r>
              <a:rPr sz="1100" b="0" i="0">
                <a:solidFill>
                  <a:srgbClr val="B4AE9F"/>
                </a:solidFill>
                <a:latin typeface="맑은 고딕"/>
                <a:ea typeface="맑은 고딕"/>
                <a:cs typeface="맑은 고딕"/>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930</Words>
  <Application>Microsoft Office PowerPoint</Application>
  <PresentationFormat>와이드스크린</PresentationFormat>
  <Paragraphs>158</Paragraphs>
  <Slides>9</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주환 박</cp:lastModifiedBy>
  <cp:revision>4</cp:revision>
  <dcterms:created xsi:type="dcterms:W3CDTF">2013-01-27T09:14:16Z</dcterms:created>
  <dcterms:modified xsi:type="dcterms:W3CDTF">2026-10-26T20:28:45Z</dcterms:modified>
  <cp:category/>
</cp:coreProperties>
</file>