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comments/comment1.xml" ContentType="application/vnd.openxmlformats-officedocument.presentationml.comment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presProps.xml" ContentType="application/vnd.openxmlformats-officedocument.presentationml.presProps+xml"/>
  <Override PartName="/ppt/commentAuthors.xml" ContentType="application/vnd.openxmlformats-officedocument.presentationml.commentAuthor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</p:presentation>
</file>

<file path=ppt/commentAuthors.xml><?xml version="1.0" encoding="utf-8"?>
<p:cmAuthorLst xmlns:p="http://schemas.openxmlformats.org/presentationml/2006/main">
  <p:cmAuthor id="0" name="주환 박" initials="주박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presProps" Target="presProps.xml"/><Relationship Id="rId24" Type="http://schemas.openxmlformats.org/officeDocument/2006/relationships/commentAuthors" Target="commentAuthor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1800" spc="-1" strike="noStrike">
                <a:solidFill>
                  <a:srgbClr val="f7f2e7"/>
                </a:solidFill>
                <a:latin typeface="맑은 고딕"/>
                <a:ea typeface="맑은 고딕"/>
              </a:defRPr>
            </a:pPr>
            <a:r>
              <a:rPr b="1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웨이브별 획득 크리스탈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획득 크리스탈</c:v>
                </c:pt>
              </c:strCache>
            </c:strRef>
          </c:tx>
          <c:spPr>
            <a:solidFill>
              <a:srgbClr val="d8c9a6"/>
            </a:solidFill>
            <a:ln w="0">
              <a:noFill/>
            </a:ln>
          </c:spPr>
          <c:invertIfNegative val="0"/>
          <c:dPt>
            <c:idx val="9"/>
            <c:invertIfNegative val="0"/>
            <c:spPr>
              <a:solidFill>
                <a:srgbClr val="e5483c"/>
              </a:solidFill>
              <a:ln w="0">
                <a:noFill/>
              </a:ln>
            </c:spPr>
          </c:dPt>
          <c:dLbls>
            <c:numFmt formatCode="#,##0" sourceLinked="0"/>
            <c:dLbl>
              <c:idx val="9"/>
              <c:numFmt formatCode="#,##0" sourceLinked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efe6d2"/>
                      </a:solidFill>
                      <a:latin typeface="맑은 고딕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efe6d2"/>
                    </a:solidFill>
                    <a:latin typeface="맑은 고딕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1600</c:v>
                </c:pt>
                <c:pt idx="1">
                  <c:v>2400</c:v>
                </c:pt>
                <c:pt idx="2">
                  <c:v>3200</c:v>
                </c:pt>
                <c:pt idx="3">
                  <c:v>3600</c:v>
                </c:pt>
                <c:pt idx="4">
                  <c:v>4200</c:v>
                </c:pt>
                <c:pt idx="5">
                  <c:v>5000</c:v>
                </c:pt>
                <c:pt idx="6">
                  <c:v>5800</c:v>
                </c:pt>
                <c:pt idx="7">
                  <c:v>7400</c:v>
                </c:pt>
                <c:pt idx="8">
                  <c:v>8400</c:v>
                </c:pt>
                <c:pt idx="9">
                  <c:v>10400</c:v>
                </c:pt>
              </c:numCache>
            </c:numRef>
          </c:val>
        </c:ser>
        <c:gapWidth val="45"/>
        <c:overlap val="0"/>
        <c:axId val="7663078"/>
        <c:axId val="74262089"/>
      </c:barChart>
      <c:catAx>
        <c:axId val="766307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pc="-1" strike="noStrike">
                    <a:solidFill>
                      <a:srgbClr val="b4ae9f"/>
                    </a:solidFill>
                    <a:latin typeface="맑은 고딕"/>
                    <a:ea typeface="맑은 고딕"/>
                  </a:defRPr>
                </a:pPr>
                <a:r>
                  <a:rPr b="0" sz="1300" spc="-1" strike="noStrike">
                    <a:solidFill>
                      <a:srgbClr val="b4ae9f"/>
                    </a:solidFill>
                    <a:latin typeface="맑은 고딕"/>
                    <a:ea typeface="맑은 고딕"/>
                  </a:rPr>
                  <a:t>웨이브 번호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9360">
            <a:solidFill>
              <a:srgbClr val="b4ae9f"/>
            </a:solidFill>
            <a:round/>
          </a:ln>
        </c:spPr>
        <c:txPr>
          <a:bodyPr/>
          <a:lstStyle/>
          <a:p>
            <a:pPr>
              <a:defRPr b="0" sz="1300" spc="-1" strike="noStrike">
                <a:solidFill>
                  <a:srgbClr val="efe6d2"/>
                </a:solidFill>
                <a:latin typeface="맑은 고딕"/>
              </a:defRPr>
            </a:pPr>
          </a:p>
        </c:txPr>
        <c:crossAx val="74262089"/>
        <c:crosses val="autoZero"/>
        <c:auto val="1"/>
        <c:lblAlgn val="ctr"/>
        <c:lblOffset val="100"/>
        <c:noMultiLvlLbl val="0"/>
      </c:catAx>
      <c:valAx>
        <c:axId val="74262089"/>
        <c:scaling>
          <c:orientation val="minMax"/>
          <c:max val="120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efe6d2"/>
                </a:solidFill>
                <a:latin typeface="맑은 고딕"/>
              </a:defRPr>
            </a:pPr>
          </a:p>
        </c:txPr>
        <c:crossAx val="7663078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omments/comment1.xml><?xml version="1.0" encoding="utf-8"?>
<p:cmLst xmlns:p="http://schemas.openxmlformats.org/presentationml/2006/main">
  <p:cm authorId="0" dt="2026-10-27T05:25:58.344000000" idx="1">
    <p:pos x="7198" y="720"/>
    <p:text/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슬라이드를 이동하려면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fld id="{77C1FE96-BD0B-4925-A26C-DB338D0B9FBB}" type="slidenum"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[10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안녕하세요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지금부터 제가 만든 게임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'Regardless of Reason',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한국어로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사유 불문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소개하겠습니다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먼저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초짜리 시연 영상부터 보겠습니다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[58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·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영상 재생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영상은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PPT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 삽입하지 않고 따로 재생합니다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슬라이드에서 영상 파일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(mp4)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을 열어 재생하고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끝나면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Alt+Tab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으로 돌아와 다음 장으로 넘어갑니다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발표 전에 발표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PC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영상 파일 위치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(PPT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같은 폴더 권장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),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재생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소리를 미리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[30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배경은 크리스탈 좀비 행성입니다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채굴 인력이 전멸하자 회사는 지원자를 모집합니다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지원 동기는 적게 하지만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 이유가 무엇이든 중요하지 않다는 태도입니다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제목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사유 불문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'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 바로 이 뜻입니다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난이도와 지원 동기를 서류에 체크하고 도장을 찍는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UI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이 분위기를 표현했고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동기는 게임 진행에 영향을 주지 않으며 엔딩 텍스트만 달라집니다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[35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한 판은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기지에서 미션을 확인하고 웨이브를 고른 뒤 전투로 나갑니다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경고가 뜨면 방어벽 뒤로 물러나 방어하고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돌아오면 하루가 지납니다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날짜는 전투를 마치고 복귀할 때만 흐르기 때문에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일을 버티려면 웨이브를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번 깨야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미션은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일마다 마감이고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마감을 넘기면 즉시 게임오버입니다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28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일을 채우면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29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 아침 로켓으로 지구에 귀환합니다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[40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크리스탈이 모든 것의 기준입니다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웨이브는 열 개이고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뒤로 갈수록 얻는 크리스탈이 늘도록 설계했습니다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미션 상납액은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3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만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4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주차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만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천으로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후반을 가파르게 잡아 긴장을 유지합니다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웨이브는 주차별 상한 안에서 이전 웨이브를 깨야 열려서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첫날 가장 쉬운 보상 구간을 건너뛰고 경제가 무너지는 것을 막았습니다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방어벽은 세 등급이고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웨이브마다 필요한 등급이 달라지도록 맞췄습니다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[45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기술적으로 신경 쓴 부분 여섯 가지입니다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투사체와 좀비는 오브젝트 풀링으로 재사용하고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타이머와 충돌이 겹쳐 두 번 반납되는 문제는 플래그로 막았습니다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좀비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AI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NavMesh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없이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Transform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으로 플레이어를 향해 직진하고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방어벽은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SphereCast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로 감지하며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공격 피해는 애니메이션 이벤트 시점에 들어갑니다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웨이브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무기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사운드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튜토리얼 문구는 모두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ScriptableObject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데이터라 코드를 건드리지 않고 조정합니다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세이브는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JSON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세 칸이고 에디터와 빌드의 저장 경로를 분리했습니다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오디오는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AudioManager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와 믹서 그룹 네 개로 구성했고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씬은 네 개에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DontDestroyOnLoad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매니저를 둡니다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[20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월 말 필수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11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단계로 시작해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9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월 말에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28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 런과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MVP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범위를 확정했습니다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10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월 중순에 웨이브 열 개와 엔딩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튜토리얼로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MVP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를 마무리했고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그 뒤로는 로우폴리 모델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이펙트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UI,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사운드 폴리싱을 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[20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아직 부족한 점도 분명합니다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좀비는 두 종류이고 보스가 없으며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맵 확장을 미뤄서 웨이브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10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은 다시 보정해야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앞으로는 베타 테스트 피드백으로 밸런스를 다듬고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좀비를 시원하게 처치하고 파밍하며 익스트랙션 요소를 더한 슈터로 전환할지 검토할 계획입니다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웨이브 관련 코드만 바꾸면 되어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60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70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퍼센트는 재사용할 수 있다고 봅니다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[10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초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]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정리하면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28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일을 버티는 웨이브 디펜스를 열 개의 웨이브와 세이브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오디오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상점 같은 시스템으로 완성했습니다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들어주셔서 감사합니다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KR"/>
              </a:rPr>
              <a:t>질문 받겠습니다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DACA61-945B-4F3A-A665-6339908EFB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69FF33-4667-4045-AE3A-56CD9926FB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D8CD30C-4AF8-4B55-9B47-96420CBAA5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FD803AA-1958-4305-8144-1E690B1383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B7FC169-F376-4783-A46F-79AFEE3D89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D74462B-974E-4A3B-B3EA-B9D55E0A16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8709FDF-6125-4E56-886E-B28C1382F4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DC01532-FF3D-47DF-8EFE-219F35B7CC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29C15E3-6E61-4AFE-8610-B9A25B556C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594993B-78BC-449A-8435-5C6912638A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430521F-E2E0-4AB7-8FC4-4231466751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EF42C4-672C-4A1E-9C31-D72F99E13A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A10FD7-980F-4491-B713-B7E00FA890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68A58C-5F60-4613-BC73-7FCAF5CD66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8D7295-9727-4B68-8CE4-5F5958E3F5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2DB2D6-67AC-4228-90DD-C561B5D97A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68151C-53E1-42A4-A908-D6595E301E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871EB6-0C7A-45DB-9A23-6010EFCDA6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18CB33-F194-42C2-969B-9CD13E5891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CFD967-5384-4F7F-8332-BF628ABFB0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945D83-79D3-43FC-8194-9080326EC1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A40118-D5EF-47D6-8076-BC9337E9F7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En"/>
          <p:cNvSpPr/>
          <p:nvPr/>
        </p:nvSpPr>
        <p:spPr>
          <a:xfrm>
            <a:off x="731520" y="1737360"/>
            <a:ext cx="6583320" cy="18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</a:pPr>
            <a:r>
              <a:rPr b="1" lang="en-US" sz="64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Regardless</a:t>
            </a:r>
            <a:endParaRPr b="0" lang="en-US" sz="64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95000"/>
              </a:lnSpc>
            </a:pPr>
            <a:r>
              <a:rPr b="1" lang="en-US" sz="64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of Reason</a:t>
            </a:r>
            <a:endParaRPr b="0" lang="en-US" sz="6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4" name="TitleKo"/>
          <p:cNvSpPr/>
          <p:nvPr/>
        </p:nvSpPr>
        <p:spPr>
          <a:xfrm>
            <a:off x="731520" y="3611880"/>
            <a:ext cx="640044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4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사유 불문</a:t>
            </a:r>
            <a:endParaRPr b="0" lang="en-US" sz="4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5" name="Subtitle"/>
          <p:cNvSpPr/>
          <p:nvPr/>
        </p:nvSpPr>
        <p:spPr>
          <a:xfrm>
            <a:off x="731520" y="4800600"/>
            <a:ext cx="6400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20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탑다운 웨이브 디펜스 </a:t>
            </a:r>
            <a:r>
              <a:rPr b="0" lang="en-US" sz="20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28</a:t>
            </a:r>
            <a:r>
              <a:rPr b="0" lang="ko-KR" sz="20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일 </a:t>
            </a:r>
            <a:r>
              <a:rPr b="0" lang="en-US" sz="20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Unity 6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6" name="ContractCard"/>
          <p:cNvSpPr/>
          <p:nvPr/>
        </p:nvSpPr>
        <p:spPr>
          <a:xfrm rot="180000">
            <a:off x="7863480" y="1234440"/>
            <a:ext cx="3657240" cy="4571640"/>
          </a:xfrm>
          <a:prstGeom prst="roundRect">
            <a:avLst>
              <a:gd name="adj" fmla="val 2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5760" rIns="365760" tIns="219600" bIns="2196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근 무 계 약 서</a:t>
            </a:r>
            <a:r>
              <a:rPr b="0" lang="en-US" sz="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지원 동기  □ 돈  □ 사면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□ </a:t>
            </a: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가족 치료  □ 호기심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계약 사유는 중요하지 않다</a:t>
            </a:r>
            <a:r>
              <a:rPr b="1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Stamp"/>
          <p:cNvSpPr/>
          <p:nvPr/>
        </p:nvSpPr>
        <p:spPr>
          <a:xfrm rot="21120000">
            <a:off x="9692280" y="4340160"/>
            <a:ext cx="1554120" cy="712800"/>
          </a:xfrm>
          <a:prstGeom prst="rect">
            <a:avLst/>
          </a:prstGeom>
          <a:noFill/>
          <a:ln w="38100">
            <a:solidFill>
              <a:srgbClr val="c837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승 인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8059320" y="5158440"/>
            <a:ext cx="17388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성명  </a:t>
            </a:r>
            <a:r>
              <a:rPr b="0" lang="ko-KR" sz="2400" spc="-1" strike="noStrike" u="sng">
                <a:solidFill>
                  <a:srgbClr val="2a2622"/>
                </a:solidFill>
                <a:uFillTx/>
                <a:latin typeface="맑은 고딕"/>
                <a:ea typeface="맑은 고딕"/>
              </a:rPr>
              <a:t>박주환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시연 영상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0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시연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1" name="VideoPoster"/>
          <p:cNvSpPr/>
          <p:nvPr/>
        </p:nvSpPr>
        <p:spPr>
          <a:xfrm>
            <a:off x="548640" y="1417320"/>
            <a:ext cx="6583320" cy="3702960"/>
          </a:xfrm>
          <a:prstGeom prst="roundRect">
            <a:avLst>
              <a:gd name="adj" fmla="val 2000"/>
            </a:avLst>
          </a:prstGeom>
          <a:solidFill>
            <a:srgbClr val="2b2926"/>
          </a:solidFill>
          <a:ln w="19050">
            <a:solidFill>
              <a:srgbClr val="b4ae9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66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▶</a:t>
            </a:r>
            <a:endParaRPr b="0" lang="en-US" sz="66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32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Regardless of Reason</a:t>
            </a:r>
            <a:endParaRPr b="0" lang="en-US" sz="32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901"/>
              </a:spcAft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사유 불문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홍보 영상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2" name="DurationChip"/>
          <p:cNvSpPr/>
          <p:nvPr/>
        </p:nvSpPr>
        <p:spPr>
          <a:xfrm>
            <a:off x="5760720" y="4480560"/>
            <a:ext cx="1188360" cy="456840"/>
          </a:xfrm>
          <a:prstGeom prst="roundRect">
            <a:avLst>
              <a:gd name="adj" fmla="val 30000"/>
            </a:avLst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0:58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3" name="SceneRow1"/>
          <p:cNvSpPr/>
          <p:nvPr/>
        </p:nvSpPr>
        <p:spPr>
          <a:xfrm>
            <a:off x="7543800" y="141732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4" name="SceneNum1"/>
          <p:cNvSpPr/>
          <p:nvPr/>
        </p:nvSpPr>
        <p:spPr>
          <a:xfrm>
            <a:off x="7635240" y="1417320"/>
            <a:ext cx="4568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1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5" name="SceneText1"/>
          <p:cNvSpPr/>
          <p:nvPr/>
        </p:nvSpPr>
        <p:spPr>
          <a:xfrm>
            <a:off x="8138160" y="1417320"/>
            <a:ext cx="34286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서류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체크하고 도장을 찍으면 근무 시작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6" name="SceneRow2"/>
          <p:cNvSpPr/>
          <p:nvPr/>
        </p:nvSpPr>
        <p:spPr>
          <a:xfrm>
            <a:off x="7543800" y="203472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7" name="SceneNum2"/>
          <p:cNvSpPr/>
          <p:nvPr/>
        </p:nvSpPr>
        <p:spPr>
          <a:xfrm>
            <a:off x="7635240" y="2034720"/>
            <a:ext cx="4568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2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8" name="SceneText2"/>
          <p:cNvSpPr/>
          <p:nvPr/>
        </p:nvSpPr>
        <p:spPr>
          <a:xfrm>
            <a:off x="8138160" y="2034720"/>
            <a:ext cx="34286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기지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상점 </a:t>
            </a:r>
            <a:r>
              <a:rPr b="0" lang="en-US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</a:t>
            </a: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미션 보드 </a:t>
            </a:r>
            <a:r>
              <a:rPr b="0" lang="en-US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</a:t>
            </a: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웨이브 선택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9" name="SceneRow3"/>
          <p:cNvSpPr/>
          <p:nvPr/>
        </p:nvSpPr>
        <p:spPr>
          <a:xfrm>
            <a:off x="7543800" y="265176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0" name="SceneNum3"/>
          <p:cNvSpPr/>
          <p:nvPr/>
        </p:nvSpPr>
        <p:spPr>
          <a:xfrm>
            <a:off x="7635240" y="2651760"/>
            <a:ext cx="4568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3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1" name="SceneText3"/>
          <p:cNvSpPr/>
          <p:nvPr/>
        </p:nvSpPr>
        <p:spPr>
          <a:xfrm>
            <a:off x="8138160" y="2651760"/>
            <a:ext cx="34286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경고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사이렌이 울리면 방어벽으로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2" name="SceneRow4"/>
          <p:cNvSpPr/>
          <p:nvPr/>
        </p:nvSpPr>
        <p:spPr>
          <a:xfrm>
            <a:off x="7543800" y="326916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3" name="SceneNum4"/>
          <p:cNvSpPr/>
          <p:nvPr/>
        </p:nvSpPr>
        <p:spPr>
          <a:xfrm>
            <a:off x="7635240" y="3269160"/>
            <a:ext cx="4568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4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4" name="SceneText4"/>
          <p:cNvSpPr/>
          <p:nvPr/>
        </p:nvSpPr>
        <p:spPr>
          <a:xfrm>
            <a:off x="8138160" y="3269160"/>
            <a:ext cx="34286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전투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총격 </a:t>
            </a:r>
            <a:r>
              <a:rPr b="0" lang="en-US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</a:t>
            </a: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수류탄 </a:t>
            </a:r>
            <a:r>
              <a:rPr b="0" lang="en-US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</a:t>
            </a: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방어벽 파괴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5" name="SceneRow5"/>
          <p:cNvSpPr/>
          <p:nvPr/>
        </p:nvSpPr>
        <p:spPr>
          <a:xfrm>
            <a:off x="7543800" y="388620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6" name="SceneNum5"/>
          <p:cNvSpPr/>
          <p:nvPr/>
        </p:nvSpPr>
        <p:spPr>
          <a:xfrm>
            <a:off x="7635240" y="3886200"/>
            <a:ext cx="4568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5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7" name="SceneText5"/>
          <p:cNvSpPr/>
          <p:nvPr/>
        </p:nvSpPr>
        <p:spPr>
          <a:xfrm>
            <a:off x="8138160" y="3886200"/>
            <a:ext cx="34286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엔딩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로켓으로 지구 귀환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8" name="SceneRow6"/>
          <p:cNvSpPr/>
          <p:nvPr/>
        </p:nvSpPr>
        <p:spPr>
          <a:xfrm>
            <a:off x="7543800" y="4503600"/>
            <a:ext cx="4114440" cy="548280"/>
          </a:xfrm>
          <a:prstGeom prst="roundRect">
            <a:avLst>
              <a:gd name="adj" fmla="val 12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9" name="SceneNum6"/>
          <p:cNvSpPr/>
          <p:nvPr/>
        </p:nvSpPr>
        <p:spPr>
          <a:xfrm>
            <a:off x="7635240" y="4503600"/>
            <a:ext cx="4568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6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0" name="SceneText6"/>
          <p:cNvSpPr/>
          <p:nvPr/>
        </p:nvSpPr>
        <p:spPr>
          <a:xfrm>
            <a:off x="8138160" y="4503600"/>
            <a:ext cx="3428640" cy="54828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ko-KR" sz="16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타이틀</a:t>
            </a:r>
            <a:endParaRPr b="0" lang="en-US" sz="16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2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1" name="Caption"/>
          <p:cNvSpPr/>
          <p:nvPr/>
        </p:nvSpPr>
        <p:spPr>
          <a:xfrm>
            <a:off x="548640" y="5440680"/>
            <a:ext cx="11109600" cy="6397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ko-KR" sz="1800" spc="-1" strike="noStrike">
                <a:solidFill>
                  <a:srgbClr val="efe6d2"/>
                </a:solidFill>
                <a:latin typeface="맑은 고딕"/>
                <a:ea typeface="맑은 고딕"/>
              </a:rPr>
              <a:t>게임 빌드를 직접 플레이하며 녹화한 </a:t>
            </a:r>
            <a:r>
              <a:rPr b="1" lang="en-US" sz="1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58</a:t>
            </a:r>
            <a:r>
              <a:rPr b="1" lang="ko-KR" sz="1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초 홍보 영상</a:t>
            </a:r>
            <a:r>
              <a:rPr b="0" lang="en-US" sz="1800" spc="-1" strike="noStrike">
                <a:solidFill>
                  <a:srgbClr val="efe6d2"/>
                </a:solidFill>
                <a:latin typeface="맑은 고딕"/>
                <a:ea typeface="맑은 고딕"/>
              </a:rPr>
              <a:t> </a:t>
            </a:r>
            <a:r>
              <a:rPr b="0" lang="en-US" sz="1800" spc="-1" strike="noStrike">
                <a:solidFill>
                  <a:srgbClr val="efe6d2"/>
                </a:solidFill>
                <a:latin typeface="맑은 고딕"/>
                <a:ea typeface="맑은 고딕"/>
              </a:rPr>
              <a:t>· </a:t>
            </a:r>
            <a:r>
              <a:rPr b="0" lang="ko-KR" sz="1800" spc="-1" strike="noStrike">
                <a:solidFill>
                  <a:srgbClr val="efe6d2"/>
                </a:solidFill>
                <a:latin typeface="맑은 고딕"/>
                <a:ea typeface="맑은 고딕"/>
              </a:rPr>
              <a:t>서류에서 로켓 귀환까지</a:t>
            </a: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2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3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2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이유는 중요하지 않다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5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기획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6" name="StoryNum1"/>
          <p:cNvSpPr/>
          <p:nvPr/>
        </p:nvSpPr>
        <p:spPr>
          <a:xfrm>
            <a:off x="548640" y="1710000"/>
            <a:ext cx="639720" cy="63972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1d1b"/>
                </a:solidFill>
                <a:latin typeface="맑은 고딕"/>
                <a:ea typeface="맑은 고딕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StoryText1"/>
          <p:cNvSpPr/>
          <p:nvPr/>
        </p:nvSpPr>
        <p:spPr>
          <a:xfrm>
            <a:off x="1417320" y="1881360"/>
            <a:ext cx="420588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크리스탈 좀비 행성 발견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08" name="StoryNum2"/>
          <p:cNvSpPr/>
          <p:nvPr/>
        </p:nvSpPr>
        <p:spPr>
          <a:xfrm>
            <a:off x="548640" y="2807280"/>
            <a:ext cx="639720" cy="63972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1d1b"/>
                </a:solidFill>
                <a:latin typeface="맑은 고딕"/>
                <a:ea typeface="맑은 고딕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9" name="StoryText2"/>
          <p:cNvSpPr/>
          <p:nvPr/>
        </p:nvSpPr>
        <p:spPr>
          <a:xfrm>
            <a:off x="1417320" y="2978640"/>
            <a:ext cx="420588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크리스탈로 만능 제작기 가동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0" name="StoryNum3"/>
          <p:cNvSpPr/>
          <p:nvPr/>
        </p:nvSpPr>
        <p:spPr>
          <a:xfrm>
            <a:off x="548640" y="3904560"/>
            <a:ext cx="639720" cy="63972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1d1b"/>
                </a:solidFill>
                <a:latin typeface="맑은 고딕"/>
                <a:ea typeface="맑은 고딕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1" name="StoryText3"/>
          <p:cNvSpPr/>
          <p:nvPr/>
        </p:nvSpPr>
        <p:spPr>
          <a:xfrm>
            <a:off x="1417320" y="4075920"/>
            <a:ext cx="420588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채굴 인력 전멸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2" name="StoryNum4"/>
          <p:cNvSpPr/>
          <p:nvPr/>
        </p:nvSpPr>
        <p:spPr>
          <a:xfrm>
            <a:off x="548640" y="5001840"/>
            <a:ext cx="639720" cy="63972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1d1b"/>
                </a:solidFill>
                <a:latin typeface="맑은 고딕"/>
                <a:ea typeface="맑은 고딕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3" name="StoryText4"/>
          <p:cNvSpPr/>
          <p:nvPr/>
        </p:nvSpPr>
        <p:spPr>
          <a:xfrm>
            <a:off x="1417320" y="5020920"/>
            <a:ext cx="420588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지원자 모집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동기는 적되</a:t>
            </a:r>
            <a:r>
              <a:rPr b="1" lang="en-US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, </a:t>
            </a: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이유는 중요하지 않다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4" name="IntentCard1"/>
          <p:cNvSpPr/>
          <p:nvPr/>
        </p:nvSpPr>
        <p:spPr>
          <a:xfrm>
            <a:off x="6172200" y="1600200"/>
            <a:ext cx="5467680" cy="137124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64520" bIns="164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제목이 곧 핵심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왜 하는지는 중요하지 않고 상관하지 않는다</a:t>
            </a: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그 뜻을 그대로 옮긴 이름이 </a:t>
            </a: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'</a:t>
            </a: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사유 불문</a:t>
            </a: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'.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5" name="IntentCard2"/>
          <p:cNvSpPr/>
          <p:nvPr/>
        </p:nvSpPr>
        <p:spPr>
          <a:xfrm>
            <a:off x="6172200" y="3108960"/>
            <a:ext cx="5467680" cy="137124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64520" bIns="164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서류 </a:t>
            </a:r>
            <a:r>
              <a:rPr b="1" lang="en-US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UI = </a:t>
            </a:r>
            <a:r>
              <a:rPr b="1" lang="ko-KR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세계관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난이도와 지원 동기를 근무계약서에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체크하고 도장을 찍는 방식으로 선택</a:t>
            </a: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6" name="IntentCard3"/>
          <p:cNvSpPr/>
          <p:nvPr/>
        </p:nvSpPr>
        <p:spPr>
          <a:xfrm>
            <a:off x="6172200" y="4617720"/>
            <a:ext cx="5467680" cy="137124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274320" tIns="164520" bIns="164520" anchor="ctr">
            <a:no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지원 동기 </a:t>
            </a:r>
            <a:r>
              <a:rPr b="1" lang="en-US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9</a:t>
            </a:r>
            <a:r>
              <a:rPr b="1" lang="ko-KR" sz="20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종 → 엔딩</a:t>
            </a:r>
            <a:endParaRPr b="0" lang="en-US" sz="20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동기는 묻지만 게임에는 영향이 없다</a:t>
            </a: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고른 동기에 맞는 엔딩 텍스트만 달라진다</a:t>
            </a:r>
            <a:r>
              <a:rPr b="0" lang="en-US" sz="16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17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18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3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한 판의 흐름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20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루프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21" name="Step1"/>
          <p:cNvSpPr/>
          <p:nvPr/>
        </p:nvSpPr>
        <p:spPr>
          <a:xfrm>
            <a:off x="548640" y="1554480"/>
            <a:ext cx="1919880" cy="1142640"/>
          </a:xfrm>
          <a:prstGeom prst="homePlate">
            <a:avLst>
              <a:gd name="adj" fmla="val 28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기지 정비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2" name="Step2"/>
          <p:cNvSpPr/>
          <p:nvPr/>
        </p:nvSpPr>
        <p:spPr>
          <a:xfrm>
            <a:off x="2395800" y="1554480"/>
            <a:ext cx="1919880" cy="1142640"/>
          </a:xfrm>
          <a:prstGeom prst="homePlate">
            <a:avLst>
              <a:gd name="adj" fmla="val 28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미션 확인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3" name="Step3"/>
          <p:cNvSpPr/>
          <p:nvPr/>
        </p:nvSpPr>
        <p:spPr>
          <a:xfrm>
            <a:off x="4242960" y="1554480"/>
            <a:ext cx="1919880" cy="1142640"/>
          </a:xfrm>
          <a:prstGeom prst="homePlate">
            <a:avLst>
              <a:gd name="adj" fmla="val 28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웨이브 선택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4" name="Step4"/>
          <p:cNvSpPr/>
          <p:nvPr/>
        </p:nvSpPr>
        <p:spPr>
          <a:xfrm>
            <a:off x="6089760" y="1554480"/>
            <a:ext cx="1919880" cy="1142640"/>
          </a:xfrm>
          <a:prstGeom prst="homePlate">
            <a:avLst>
              <a:gd name="adj" fmla="val 28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돌격 경고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5" name="Step5"/>
          <p:cNvSpPr/>
          <p:nvPr/>
        </p:nvSpPr>
        <p:spPr>
          <a:xfrm>
            <a:off x="7936920" y="1554480"/>
            <a:ext cx="1919880" cy="1142640"/>
          </a:xfrm>
          <a:prstGeom prst="homePlate">
            <a:avLst>
              <a:gd name="adj" fmla="val 28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5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방어벽 방어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6" name="Step6"/>
          <p:cNvSpPr/>
          <p:nvPr/>
        </p:nvSpPr>
        <p:spPr>
          <a:xfrm>
            <a:off x="9784080" y="1554480"/>
            <a:ext cx="1919880" cy="1142640"/>
          </a:xfrm>
          <a:prstGeom prst="homePlate">
            <a:avLst>
              <a:gd name="adj" fmla="val 28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귀환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ko-KR" sz="17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하루 경과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27" name="StatCard1"/>
          <p:cNvSpPr/>
          <p:nvPr/>
        </p:nvSpPr>
        <p:spPr>
          <a:xfrm>
            <a:off x="548640" y="310896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28</a:t>
            </a:r>
            <a:r>
              <a:rPr b="1" lang="ko-KR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일</a:t>
            </a:r>
            <a:endParaRPr b="0" lang="en-US" sz="5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ko-KR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런 길이</a:t>
            </a: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29</a:t>
            </a: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일 아침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로켓으로 지구 귀환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28" name="StatCard2"/>
          <p:cNvSpPr/>
          <p:nvPr/>
        </p:nvSpPr>
        <p:spPr>
          <a:xfrm>
            <a:off x="3337560" y="310896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7</a:t>
            </a:r>
            <a:r>
              <a:rPr b="1" lang="ko-KR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일</a:t>
            </a:r>
            <a:endParaRPr b="0" lang="en-US" sz="5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ko-KR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미션 마감 주기</a:t>
            </a: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7 · 14 · 21 · 28</a:t>
            </a: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일</a:t>
            </a:r>
            <a:r>
              <a:rPr b="0" lang="en-US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, </a:t>
            </a: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총 </a:t>
            </a:r>
            <a:r>
              <a:rPr b="0" lang="en-US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4</a:t>
            </a: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회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29" name="StatCard3"/>
          <p:cNvSpPr/>
          <p:nvPr/>
        </p:nvSpPr>
        <p:spPr>
          <a:xfrm>
            <a:off x="6126480" y="310896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28</a:t>
            </a:r>
            <a:r>
              <a:rPr b="1" lang="ko-KR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번</a:t>
            </a:r>
            <a:endParaRPr b="0" lang="en-US" sz="5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ko-KR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웨이브 클리어</a:t>
            </a: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날짜는 전투 복귀로만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흐른다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0" name="StatCard4"/>
          <p:cNvSpPr/>
          <p:nvPr/>
        </p:nvSpPr>
        <p:spPr>
          <a:xfrm>
            <a:off x="8915400" y="3108960"/>
            <a:ext cx="2651400" cy="301716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ko-KR" sz="5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즉시</a:t>
            </a:r>
            <a:endParaRPr b="0" lang="en-US" sz="5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1" lang="ko-KR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마감을 넘기면</a:t>
            </a: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게임오버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b="0" lang="ko-KR" sz="14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마감 당일까지는 제출 가능</a:t>
            </a:r>
            <a:endParaRPr b="0" lang="en-US" sz="1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1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2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4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크리스탈 경제와 웨이브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4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경제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graphicFrame>
        <p:nvGraphicFramePr>
          <p:cNvPr id="135" name="WaveRewardChart"/>
          <p:cNvGraphicFramePr/>
          <p:nvPr/>
        </p:nvGraphicFramePr>
        <p:xfrm>
          <a:off x="548640" y="1417320"/>
          <a:ext cx="6857640" cy="475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6" name="QuotaHead"/>
          <p:cNvSpPr/>
          <p:nvPr/>
        </p:nvSpPr>
        <p:spPr>
          <a:xfrm>
            <a:off x="7818120" y="1417320"/>
            <a:ext cx="3840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1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미션 상납 요구 금액</a:t>
            </a:r>
            <a:endParaRPr b="0" lang="en-US" sz="1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7" name="Quota1"/>
          <p:cNvSpPr/>
          <p:nvPr/>
        </p:nvSpPr>
        <p:spPr>
          <a:xfrm>
            <a:off x="7818120" y="1874520"/>
            <a:ext cx="1874160" cy="868320"/>
          </a:xfrm>
          <a:prstGeom prst="roundRect">
            <a:avLst>
              <a:gd name="adj" fmla="val 8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1</a:t>
            </a:r>
            <a:r>
              <a:rPr b="0" lang="ko-KR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5,000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8" name="Quota2"/>
          <p:cNvSpPr/>
          <p:nvPr/>
        </p:nvSpPr>
        <p:spPr>
          <a:xfrm>
            <a:off x="9784080" y="1874520"/>
            <a:ext cx="1874160" cy="868320"/>
          </a:xfrm>
          <a:prstGeom prst="roundRect">
            <a:avLst>
              <a:gd name="adj" fmla="val 8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2</a:t>
            </a:r>
            <a:r>
              <a:rPr b="0" lang="ko-KR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8,000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39" name="Quota3"/>
          <p:cNvSpPr/>
          <p:nvPr/>
        </p:nvSpPr>
        <p:spPr>
          <a:xfrm>
            <a:off x="7818120" y="2834640"/>
            <a:ext cx="1874160" cy="868320"/>
          </a:xfrm>
          <a:prstGeom prst="roundRect">
            <a:avLst>
              <a:gd name="adj" fmla="val 8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3</a:t>
            </a:r>
            <a:r>
              <a:rPr b="0" lang="ko-KR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12,000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0" name="Quota4"/>
          <p:cNvSpPr/>
          <p:nvPr/>
        </p:nvSpPr>
        <p:spPr>
          <a:xfrm>
            <a:off x="9784080" y="2834640"/>
            <a:ext cx="1874160" cy="868320"/>
          </a:xfrm>
          <a:prstGeom prst="roundRect">
            <a:avLst>
              <a:gd name="adj" fmla="val 8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4</a:t>
            </a:r>
            <a:r>
              <a:rPr b="0" lang="ko-KR" sz="13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주차</a:t>
            </a:r>
            <a:endParaRPr b="0" lang="en-US" sz="13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22,000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1" name="SystemCard"/>
          <p:cNvSpPr/>
          <p:nvPr/>
        </p:nvSpPr>
        <p:spPr>
          <a:xfrm>
            <a:off x="7818120" y="3931920"/>
            <a:ext cx="384012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228600" tIns="137160" bIns="13716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ko-KR" sz="17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웨이브 순차 해금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ko-KR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주차 상한 </a:t>
            </a:r>
            <a:r>
              <a:rPr b="0" lang="en-US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3 · 6 · 9 · 10 </a:t>
            </a:r>
            <a:r>
              <a:rPr b="0" lang="ko-KR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안에서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ko-KR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이전 웨이브를 깨야 다음이 열림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ko-KR" sz="17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방어벽 </a:t>
            </a:r>
            <a:r>
              <a:rPr b="1" lang="en-US" sz="17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3</a:t>
            </a:r>
            <a:r>
              <a:rPr b="1" lang="ko-KR" sz="17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등급</a:t>
            </a:r>
            <a:endParaRPr b="0" lang="en-US" sz="17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ko-KR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설치 </a:t>
            </a:r>
            <a:r>
              <a:rPr b="0" lang="en-US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500 / 1,000 / 1,500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ko-KR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내구도 </a:t>
            </a:r>
            <a:r>
              <a:rPr b="0" lang="en-US" sz="14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400 / 800 / 1,200</a:t>
            </a:r>
            <a:endParaRPr b="0" lang="en-US" sz="14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42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3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5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기술적으로 한 것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5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기술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6" name="TechCard1"/>
          <p:cNvSpPr/>
          <p:nvPr/>
        </p:nvSpPr>
        <p:spPr>
          <a:xfrm>
            <a:off x="548640" y="1554480"/>
            <a:ext cx="356580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chNum1"/>
          <p:cNvSpPr/>
          <p:nvPr/>
        </p:nvSpPr>
        <p:spPr>
          <a:xfrm>
            <a:off x="822960" y="1737360"/>
            <a:ext cx="822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01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8" name="TechHead1"/>
          <p:cNvSpPr/>
          <p:nvPr/>
        </p:nvSpPr>
        <p:spPr>
          <a:xfrm>
            <a:off x="1508760" y="183132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오브젝트 풀링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49" name="TechBody1"/>
          <p:cNvSpPr/>
          <p:nvPr/>
        </p:nvSpPr>
        <p:spPr>
          <a:xfrm>
            <a:off x="822960" y="2331720"/>
            <a:ext cx="3108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투사체와 좀비를 재사용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타이머와 충돌의 이중 반납은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플래그로 차단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0" name="TechCard2"/>
          <p:cNvSpPr/>
          <p:nvPr/>
        </p:nvSpPr>
        <p:spPr>
          <a:xfrm>
            <a:off x="4297680" y="1554480"/>
            <a:ext cx="356580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chNum2"/>
          <p:cNvSpPr/>
          <p:nvPr/>
        </p:nvSpPr>
        <p:spPr>
          <a:xfrm>
            <a:off x="4572000" y="1737360"/>
            <a:ext cx="822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02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2" name="TechHead2"/>
          <p:cNvSpPr/>
          <p:nvPr/>
        </p:nvSpPr>
        <p:spPr>
          <a:xfrm>
            <a:off x="5257800" y="183132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직접 이동 </a:t>
            </a:r>
            <a:r>
              <a:rPr b="1" lang="en-US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AI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3" name="TechBody2"/>
          <p:cNvSpPr/>
          <p:nvPr/>
        </p:nvSpPr>
        <p:spPr>
          <a:xfrm>
            <a:off x="4572000" y="2331720"/>
            <a:ext cx="3108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NavMesh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없이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Transform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으로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직진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,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방어벽은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SphereCast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로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감지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,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피해는 애니메이션 이벤트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4" name="TechCard3"/>
          <p:cNvSpPr/>
          <p:nvPr/>
        </p:nvSpPr>
        <p:spPr>
          <a:xfrm>
            <a:off x="8046720" y="1554480"/>
            <a:ext cx="356580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chNum3"/>
          <p:cNvSpPr/>
          <p:nvPr/>
        </p:nvSpPr>
        <p:spPr>
          <a:xfrm>
            <a:off x="8321040" y="1737360"/>
            <a:ext cx="822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03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6" name="TechHead3"/>
          <p:cNvSpPr/>
          <p:nvPr/>
        </p:nvSpPr>
        <p:spPr>
          <a:xfrm>
            <a:off x="9006840" y="183132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데이터 주도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7" name="TechBody3"/>
          <p:cNvSpPr/>
          <p:nvPr/>
        </p:nvSpPr>
        <p:spPr>
          <a:xfrm>
            <a:off x="8321040" y="2331720"/>
            <a:ext cx="3108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웨이브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·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무기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·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사운드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·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튜토리얼 문구를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ScriptableObject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로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관리해 코드 수정 없이 조정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58" name="TechCard4"/>
          <p:cNvSpPr/>
          <p:nvPr/>
        </p:nvSpPr>
        <p:spPr>
          <a:xfrm>
            <a:off x="548640" y="3977640"/>
            <a:ext cx="356580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chNum4"/>
          <p:cNvSpPr/>
          <p:nvPr/>
        </p:nvSpPr>
        <p:spPr>
          <a:xfrm>
            <a:off x="822960" y="4160520"/>
            <a:ext cx="822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04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0" name="TechHead4"/>
          <p:cNvSpPr/>
          <p:nvPr/>
        </p:nvSpPr>
        <p:spPr>
          <a:xfrm>
            <a:off x="1508760" y="425448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세이브 </a:t>
            </a:r>
            <a:r>
              <a:rPr b="1" lang="en-US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3</a:t>
            </a: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칸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1" name="TechBody4"/>
          <p:cNvSpPr/>
          <p:nvPr/>
        </p:nvSpPr>
        <p:spPr>
          <a:xfrm>
            <a:off x="822960" y="4754880"/>
            <a:ext cx="3108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JSON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저장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에디터와 빌드의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저장 경로를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#if UNITY_EDITOR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로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분리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전투 복귀 때 자동 저장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2" name="TechCard5"/>
          <p:cNvSpPr/>
          <p:nvPr/>
        </p:nvSpPr>
        <p:spPr>
          <a:xfrm>
            <a:off x="4297680" y="3977640"/>
            <a:ext cx="356580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chNum5"/>
          <p:cNvSpPr/>
          <p:nvPr/>
        </p:nvSpPr>
        <p:spPr>
          <a:xfrm>
            <a:off x="4572000" y="4160520"/>
            <a:ext cx="822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05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4" name="TechHead5"/>
          <p:cNvSpPr/>
          <p:nvPr/>
        </p:nvSpPr>
        <p:spPr>
          <a:xfrm>
            <a:off x="5257800" y="425448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오디오 시스템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5" name="TechBody5"/>
          <p:cNvSpPr/>
          <p:nvPr/>
        </p:nvSpPr>
        <p:spPr>
          <a:xfrm>
            <a:off x="4572000" y="4754880"/>
            <a:ext cx="3108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AudioManager · SoundData ·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믹서 그룹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4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개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효과음 풀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40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개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,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음악은 씬 전환 크로스페이드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6" name="TechCard6"/>
          <p:cNvSpPr/>
          <p:nvPr/>
        </p:nvSpPr>
        <p:spPr>
          <a:xfrm>
            <a:off x="8046720" y="3977640"/>
            <a:ext cx="3565800" cy="2239920"/>
          </a:xfrm>
          <a:prstGeom prst="roundRect">
            <a:avLst>
              <a:gd name="adj" fmla="val 5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chNum6"/>
          <p:cNvSpPr/>
          <p:nvPr/>
        </p:nvSpPr>
        <p:spPr>
          <a:xfrm>
            <a:off x="8321040" y="4160520"/>
            <a:ext cx="822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06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8" name="TechHead6"/>
          <p:cNvSpPr/>
          <p:nvPr/>
        </p:nvSpPr>
        <p:spPr>
          <a:xfrm>
            <a:off x="9006840" y="4254480"/>
            <a:ext cx="2468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씬 구조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69" name="TechBody6"/>
          <p:cNvSpPr/>
          <p:nvPr/>
        </p:nvSpPr>
        <p:spPr>
          <a:xfrm>
            <a:off x="8321040" y="4754880"/>
            <a:ext cx="3108600" cy="6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MainMenu · Loading · Base · ZWD.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DontDestroyOnLoad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매니저와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sceneLoaded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로 실행 순서 해결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70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71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6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제작 과정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73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과정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cxnSp>
        <p:nvCxnSpPr>
          <p:cNvPr id="174" name="TimelineLine"/>
          <p:cNvCxnSpPr/>
          <p:nvPr/>
        </p:nvCxnSpPr>
        <p:spPr>
          <a:xfrm>
            <a:off x="1983960" y="2194560"/>
            <a:ext cx="8229960" cy="360"/>
          </a:xfrm>
          <a:prstGeom prst="straightConnector1">
            <a:avLst/>
          </a:prstGeom>
          <a:ln>
            <a:solidFill>
              <a:srgbClr val="b4ae9f"/>
            </a:solidFill>
            <a:round/>
          </a:ln>
        </p:spPr>
      </p:cxnSp>
      <p:sp>
        <p:nvSpPr>
          <p:cNvPr id="175" name="TimelineNode1"/>
          <p:cNvSpPr/>
          <p:nvPr/>
        </p:nvSpPr>
        <p:spPr>
          <a:xfrm>
            <a:off x="1810440" y="2020680"/>
            <a:ext cx="347040" cy="34704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imelineDate1"/>
          <p:cNvSpPr/>
          <p:nvPr/>
        </p:nvSpPr>
        <p:spPr>
          <a:xfrm>
            <a:off x="704160" y="1492560"/>
            <a:ext cx="25599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8/27</a:t>
            </a:r>
            <a:endParaRPr b="0" lang="en-US" sz="2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77" name="PhaseCard1"/>
          <p:cNvSpPr/>
          <p:nvPr/>
        </p:nvSpPr>
        <p:spPr>
          <a:xfrm>
            <a:off x="704160" y="2788920"/>
            <a:ext cx="2559960" cy="2925720"/>
          </a:xfrm>
          <a:prstGeom prst="roundRect">
            <a:avLst>
              <a:gd name="adj" fmla="val 6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1" lang="ko-KR" sz="2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시작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첫 커밋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필수 </a:t>
            </a:r>
            <a:r>
              <a:rPr b="0" lang="en-US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11</a:t>
            </a: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단계 완성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78" name="TimelineNode2"/>
          <p:cNvSpPr/>
          <p:nvPr/>
        </p:nvSpPr>
        <p:spPr>
          <a:xfrm>
            <a:off x="4553640" y="2020680"/>
            <a:ext cx="347040" cy="34704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imelineDate2"/>
          <p:cNvSpPr/>
          <p:nvPr/>
        </p:nvSpPr>
        <p:spPr>
          <a:xfrm>
            <a:off x="3447360" y="1492560"/>
            <a:ext cx="25599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9/29</a:t>
            </a:r>
            <a:endParaRPr b="0" lang="en-US" sz="2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80" name="PhaseCard2"/>
          <p:cNvSpPr/>
          <p:nvPr/>
        </p:nvSpPr>
        <p:spPr>
          <a:xfrm>
            <a:off x="3447360" y="2788920"/>
            <a:ext cx="2559960" cy="2925720"/>
          </a:xfrm>
          <a:prstGeom prst="roundRect">
            <a:avLst>
              <a:gd name="adj" fmla="val 6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1" lang="ko-KR" sz="2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확정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28</a:t>
            </a: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일 런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7</a:t>
            </a: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일 마감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MVP </a:t>
            </a: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범위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1" name="TimelineNode3"/>
          <p:cNvSpPr/>
          <p:nvPr/>
        </p:nvSpPr>
        <p:spPr>
          <a:xfrm>
            <a:off x="7296840" y="2020680"/>
            <a:ext cx="347040" cy="34704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imelineDate3"/>
          <p:cNvSpPr/>
          <p:nvPr/>
        </p:nvSpPr>
        <p:spPr>
          <a:xfrm>
            <a:off x="6190560" y="1492560"/>
            <a:ext cx="25599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10/14</a:t>
            </a:r>
            <a:endParaRPr b="0" lang="en-US" sz="2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83" name="PhaseCard3"/>
          <p:cNvSpPr/>
          <p:nvPr/>
        </p:nvSpPr>
        <p:spPr>
          <a:xfrm>
            <a:off x="6190560" y="2788920"/>
            <a:ext cx="2559960" cy="2925720"/>
          </a:xfrm>
          <a:prstGeom prst="roundRect">
            <a:avLst>
              <a:gd name="adj" fmla="val 6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MVP </a:t>
            </a:r>
            <a:r>
              <a:rPr b="1" lang="ko-KR" sz="2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완성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웨이브 </a:t>
            </a:r>
            <a:r>
              <a:rPr b="0" lang="en-US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10</a:t>
            </a: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개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엔딩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4" name="TimelineNode4"/>
          <p:cNvSpPr/>
          <p:nvPr/>
        </p:nvSpPr>
        <p:spPr>
          <a:xfrm>
            <a:off x="10040040" y="2020680"/>
            <a:ext cx="347040" cy="347040"/>
          </a:xfrm>
          <a:prstGeom prst="ellipse">
            <a:avLst/>
          </a:prstGeom>
          <a:solidFill>
            <a:srgbClr val="e548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imelineDate4"/>
          <p:cNvSpPr/>
          <p:nvPr/>
        </p:nvSpPr>
        <p:spPr>
          <a:xfrm>
            <a:off x="8933760" y="1492560"/>
            <a:ext cx="255996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10/15~</a:t>
            </a:r>
            <a:endParaRPr b="0" lang="en-US" sz="2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86" name="PhaseCard4"/>
          <p:cNvSpPr/>
          <p:nvPr/>
        </p:nvSpPr>
        <p:spPr>
          <a:xfrm>
            <a:off x="8933760" y="2788920"/>
            <a:ext cx="2559960" cy="2925720"/>
          </a:xfrm>
          <a:prstGeom prst="roundRect">
            <a:avLst>
              <a:gd name="adj" fmla="val 6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09800" bIns="109800" anchor="ctr">
            <a:noAutofit/>
          </a:bodyPr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1" lang="ko-KR" sz="2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폴리싱</a:t>
            </a:r>
            <a:endParaRPr b="0" lang="en-US" sz="24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로우폴리 모델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이펙트 </a:t>
            </a:r>
            <a:r>
              <a:rPr b="0" lang="en-US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· UI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1001"/>
              </a:spcAft>
            </a:pPr>
            <a:r>
              <a:rPr b="0" lang="ko-KR" sz="18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사운드</a:t>
            </a:r>
            <a:endParaRPr b="0" lang="en-US" sz="1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87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88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7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"/>
          <p:cNvSpPr/>
          <p:nvPr/>
        </p:nvSpPr>
        <p:spPr>
          <a:xfrm>
            <a:off x="548640" y="532800"/>
            <a:ext cx="89607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ko-KR" sz="38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한계와 앞으로</a:t>
            </a:r>
            <a:endParaRPr b="0" lang="en-US" sz="38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0" name="Stamp"/>
          <p:cNvSpPr/>
          <p:nvPr/>
        </p:nvSpPr>
        <p:spPr>
          <a:xfrm rot="300000">
            <a:off x="10195200" y="502560"/>
            <a:ext cx="1462680" cy="658080"/>
          </a:xfrm>
          <a:prstGeom prst="rect">
            <a:avLst/>
          </a:prstGeom>
          <a:noFill/>
          <a:ln w="3175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전망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1" name="LimitPanel"/>
          <p:cNvSpPr/>
          <p:nvPr/>
        </p:nvSpPr>
        <p:spPr>
          <a:xfrm>
            <a:off x="548640" y="1554480"/>
            <a:ext cx="5440320" cy="4571640"/>
          </a:xfrm>
          <a:prstGeom prst="roundRect">
            <a:avLst>
              <a:gd name="adj" fmla="val 4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LimitHead"/>
          <p:cNvSpPr/>
          <p:nvPr/>
        </p:nvSpPr>
        <p:spPr>
          <a:xfrm>
            <a:off x="868680" y="1783080"/>
            <a:ext cx="4845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한계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3" name="LimitItem1"/>
          <p:cNvSpPr/>
          <p:nvPr/>
        </p:nvSpPr>
        <p:spPr>
          <a:xfrm>
            <a:off x="868680" y="2286000"/>
            <a:ext cx="48459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좀비 </a:t>
            </a:r>
            <a:r>
              <a:rPr b="1" lang="en-US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2</a:t>
            </a: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종</a:t>
            </a:r>
            <a:r>
              <a:rPr b="1" lang="en-US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, </a:t>
            </a: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보스 없음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일반 </a:t>
            </a:r>
            <a:r>
              <a:rPr b="0" lang="en-US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· </a:t>
            </a:r>
            <a:r>
              <a:rPr b="0" lang="ko-KR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헤비 두 종류로 웨이브 </a:t>
            </a:r>
            <a:r>
              <a:rPr b="0" lang="en-US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10</a:t>
            </a:r>
            <a:r>
              <a:rPr b="0" lang="ko-KR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개를 구성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4" name="LimitItem2"/>
          <p:cNvSpPr/>
          <p:nvPr/>
        </p:nvSpPr>
        <p:spPr>
          <a:xfrm>
            <a:off x="868680" y="3474720"/>
            <a:ext cx="48459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맵 확장 보류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웨이브 </a:t>
            </a:r>
            <a:r>
              <a:rPr b="0" lang="en-US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8~10</a:t>
            </a:r>
            <a:r>
              <a:rPr b="0" lang="ko-KR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은 맵 확장 뒤 재보정 필요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5" name="LimitItem3"/>
          <p:cNvSpPr/>
          <p:nvPr/>
        </p:nvSpPr>
        <p:spPr>
          <a:xfrm>
            <a:off x="868680" y="4663440"/>
            <a:ext cx="48459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유산 기록 미구현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5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지원 동기 기반 기록은 설계만 존재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6" name="NextPanel"/>
          <p:cNvSpPr/>
          <p:nvPr/>
        </p:nvSpPr>
        <p:spPr>
          <a:xfrm>
            <a:off x="6199560" y="1554480"/>
            <a:ext cx="5440320" cy="4571640"/>
          </a:xfrm>
          <a:prstGeom prst="roundRect">
            <a:avLst>
              <a:gd name="adj" fmla="val 4000"/>
            </a:avLst>
          </a:prstGeom>
          <a:solidFill>
            <a:srgbClr val="efe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NextHead"/>
          <p:cNvSpPr/>
          <p:nvPr/>
        </p:nvSpPr>
        <p:spPr>
          <a:xfrm>
            <a:off x="6519600" y="1783080"/>
            <a:ext cx="4845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400" spc="-1" strike="noStrike">
                <a:solidFill>
                  <a:srgbClr val="c8372d"/>
                </a:solidFill>
                <a:latin typeface="맑은 고딕"/>
                <a:ea typeface="맑은 고딕"/>
              </a:rPr>
              <a:t>앞으로</a:t>
            </a:r>
            <a:endParaRPr b="0" lang="en-US" sz="2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8" name="NextItem1"/>
          <p:cNvSpPr/>
          <p:nvPr/>
        </p:nvSpPr>
        <p:spPr>
          <a:xfrm>
            <a:off x="6519600" y="2468880"/>
            <a:ext cx="48459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베타 테스트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플레이 피드백으로 밸런스 보정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199" name="NextItem2"/>
          <p:cNvSpPr/>
          <p:nvPr/>
        </p:nvSpPr>
        <p:spPr>
          <a:xfrm>
            <a:off x="6519600" y="4023360"/>
            <a:ext cx="4845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ko-KR" sz="20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파밍형 슈터 전환 검토</a:t>
            </a:r>
            <a:endParaRPr b="0" lang="en-US" sz="20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시원한 처치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+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파밍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+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익스트랙션 요소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구역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=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지하 층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, 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웨이브 코드만 교체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(</a:t>
            </a:r>
            <a:r>
              <a:rPr b="0" lang="ko-KR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재사용 약 </a:t>
            </a:r>
            <a:r>
              <a:rPr b="0" lang="en-US" sz="1500" spc="-1" strike="noStrike">
                <a:solidFill>
                  <a:srgbClr val="2a2622"/>
                </a:solidFill>
                <a:latin typeface="맑은 고딕"/>
                <a:ea typeface="맑은 고딕"/>
              </a:rPr>
              <a:t>60~70%)</a:t>
            </a:r>
            <a:endParaRPr b="0" lang="en-US" sz="15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0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1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8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losingTitle"/>
          <p:cNvSpPr/>
          <p:nvPr/>
        </p:nvSpPr>
        <p:spPr>
          <a:xfrm>
            <a:off x="731520" y="1554480"/>
            <a:ext cx="1051524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Regardless of Reason</a:t>
            </a:r>
            <a:endParaRPr b="0" lang="en-US" sz="54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3" name="ClosingSub"/>
          <p:cNvSpPr/>
          <p:nvPr/>
        </p:nvSpPr>
        <p:spPr>
          <a:xfrm>
            <a:off x="731520" y="2606040"/>
            <a:ext cx="10515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40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사유 불문</a:t>
            </a:r>
            <a:endParaRPr b="0" lang="en-US" sz="40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4" name="RecapCard1"/>
          <p:cNvSpPr/>
          <p:nvPr/>
        </p:nvSpPr>
        <p:spPr>
          <a:xfrm>
            <a:off x="731520" y="3657600"/>
            <a:ext cx="3382920" cy="146268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82440" bIns="8244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28</a:t>
            </a:r>
            <a:r>
              <a:rPr b="1" lang="ko-KR" sz="4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일</a:t>
            </a:r>
            <a:endParaRPr b="0" lang="en-US" sz="40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0" lang="ko-KR" sz="17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버티는 런</a:t>
            </a:r>
            <a:endParaRPr b="0" lang="en-US" sz="17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5" name="RecapCard2"/>
          <p:cNvSpPr/>
          <p:nvPr/>
        </p:nvSpPr>
        <p:spPr>
          <a:xfrm>
            <a:off x="4343400" y="3657600"/>
            <a:ext cx="3382920" cy="146268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82440" bIns="8244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10</a:t>
            </a:r>
            <a:r>
              <a:rPr b="1" lang="ko-KR" sz="4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개</a:t>
            </a:r>
            <a:endParaRPr b="0" lang="en-US" sz="40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0" lang="ko-KR" sz="17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웨이브</a:t>
            </a:r>
            <a:endParaRPr b="0" lang="en-US" sz="17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6" name="RecapCard3"/>
          <p:cNvSpPr/>
          <p:nvPr/>
        </p:nvSpPr>
        <p:spPr>
          <a:xfrm>
            <a:off x="7955280" y="3657600"/>
            <a:ext cx="3382920" cy="1462680"/>
          </a:xfrm>
          <a:prstGeom prst="roundRect">
            <a:avLst>
              <a:gd name="adj" fmla="val 5000"/>
            </a:avLst>
          </a:prstGeom>
          <a:solidFill>
            <a:srgbClr val="2b29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82440" bIns="8244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4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4</a:t>
            </a:r>
            <a:r>
              <a:rPr b="1" lang="ko-KR" sz="4000" spc="-1" strike="noStrike">
                <a:solidFill>
                  <a:srgbClr val="f7f2e7"/>
                </a:solidFill>
                <a:latin typeface="맑은 고딕"/>
                <a:ea typeface="맑은 고딕"/>
              </a:rPr>
              <a:t>개</a:t>
            </a:r>
            <a:endParaRPr b="0" lang="en-US" sz="4000" spc="-1" strike="noStrike">
              <a:solidFill>
                <a:srgbClr val="ffffff"/>
              </a:solidFill>
              <a:latin typeface="Noto Sans KR"/>
            </a:endParaRPr>
          </a:p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b="0" lang="ko-KR" sz="17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메인미션</a:t>
            </a:r>
            <a:endParaRPr b="0" lang="en-US" sz="17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7" name="ThankYou"/>
          <p:cNvSpPr/>
          <p:nvPr/>
        </p:nvSpPr>
        <p:spPr>
          <a:xfrm>
            <a:off x="731520" y="5669280"/>
            <a:ext cx="73148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ko-KR" sz="2200" spc="-1" strike="noStrike">
                <a:solidFill>
                  <a:srgbClr val="efe6d2"/>
                </a:solidFill>
                <a:latin typeface="맑은 고딕"/>
                <a:ea typeface="맑은 고딕"/>
              </a:rPr>
              <a:t>감사합니다 </a:t>
            </a:r>
            <a:r>
              <a:rPr b="1" lang="en-US" sz="2200" spc="-1" strike="noStrike">
                <a:solidFill>
                  <a:srgbClr val="efe6d2"/>
                </a:solidFill>
                <a:latin typeface="맑은 고딕"/>
                <a:ea typeface="맑은 고딕"/>
              </a:rPr>
              <a:t>· Q&amp;A</a:t>
            </a:r>
            <a:endParaRPr b="0" lang="en-US" sz="22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8" name="Stamp"/>
          <p:cNvSpPr/>
          <p:nvPr/>
        </p:nvSpPr>
        <p:spPr>
          <a:xfrm rot="21240000">
            <a:off x="9966600" y="5440320"/>
            <a:ext cx="1554120" cy="712800"/>
          </a:xfrm>
          <a:prstGeom prst="rect">
            <a:avLst/>
          </a:prstGeom>
          <a:noFill/>
          <a:ln w="38100">
            <a:solidFill>
              <a:srgbClr val="e548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27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ko-KR" sz="2600" spc="-1" strike="noStrike">
                <a:solidFill>
                  <a:srgbClr val="e5483c"/>
                </a:solidFill>
                <a:latin typeface="맑은 고딕"/>
                <a:ea typeface="맑은 고딕"/>
              </a:rPr>
              <a:t>접 수</a:t>
            </a:r>
            <a:endParaRPr b="0" lang="en-US" sz="26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09" name="FooterLeft"/>
          <p:cNvSpPr/>
          <p:nvPr/>
        </p:nvSpPr>
        <p:spPr>
          <a:xfrm>
            <a:off x="548640" y="6400800"/>
            <a:ext cx="5486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REGARDLESS OF REASON · </a:t>
            </a:r>
            <a:r>
              <a:rPr b="0" lang="ko-KR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사유 불문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210" name="PageNumber"/>
          <p:cNvSpPr/>
          <p:nvPr/>
        </p:nvSpPr>
        <p:spPr>
          <a:xfrm>
            <a:off x="10698480" y="6400800"/>
            <a:ext cx="94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4ae9f"/>
                </a:solidFill>
                <a:latin typeface="맑은 고딕"/>
                <a:ea typeface="맑은 고딕"/>
              </a:rPr>
              <a:t>9 / 9</a:t>
            </a:r>
            <a:endParaRPr b="0" lang="en-US" sz="1100" spc="-1" strike="noStrike">
              <a:solidFill>
                <a:srgbClr val="ffffff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PPT_Plus/1.0.0.0$Windows_X86_64 LibreOffice_project/</Application>
  <AppVersion>15.0000</AppVersion>
  <Words>930</Words>
  <Paragraphs>158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ko-KR</dc:language>
  <cp:lastModifiedBy/>
  <dcterms:modified xsi:type="dcterms:W3CDTF">2026-10-27T10:06:15Z</dcterms:modified>
  <cp:revision>5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와이드스크린</vt:lpwstr>
  </property>
  <property fmtid="{D5CDD505-2E9C-101B-9397-08002B2CF9AE}" pid="4" name="Slides">
    <vt:i4>9</vt:i4>
  </property>
</Properties>
</file>